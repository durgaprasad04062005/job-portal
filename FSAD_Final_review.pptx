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72" r:id="rId26"/>
    <p:sldId id="274" r:id="rId27"/>
    <p:sldId id="276" r:id="rId28"/>
    <p:sldId id="270" r:id="rId29"/>
  </p:sldIdLst>
  <p:sldSz cx="18288000" cy="10287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42B856-EA94-47D2-8C67-E4C06922D66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78D2BC-134E-4453-BA7D-A7B8D08AFE87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F4343A8-7A2A-4DD2-B0A7-1E505CC82740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E467B23-017C-44F9-9BC8-891BD2400EB2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C2E58B5-9936-49A9-834D-70A472871CA9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920A631-C536-460C-8C7D-CCDD91067ECA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2810231-9E42-4355-8867-0334C30A73B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E6D316C-3515-4D7D-A75D-41F682638C73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4AAE1AF-4E32-47B9-ABCA-3400A20462D2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2BF824D-51C2-4E0C-B0A4-59C100CE04AD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3A465D9-2A31-44AF-BBAE-CE1D40C071BC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9FE9A0-DEAC-4C2F-B2C7-B669D2FF283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60EA37-F165-402C-A0E1-475A5D79C6E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B0F21B-96F1-4FE0-871A-F1805C2D92A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5141C9-3C30-4640-B897-D01AC3FBE68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F66A30-AE37-45DC-A76F-9F5A34A00F4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8F592A-A531-4601-96C4-DCC02E5B9C9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CF54DE-D4B1-4BD2-A2BE-B4F47682599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052B53-F6B1-4BB4-8A87-DD86E59EAA5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85248F-D6C7-4197-B82F-FBE5BB3914D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FBC7AF-6817-420D-A60D-7A304532BB7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EA1A83-ED71-4106-8803-7C195DB90B2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0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2"/>
          <p:cNvPicPr/>
          <p:nvPr/>
        </p:nvPicPr>
        <p:blipFill>
          <a:blip r:embed="rId1"/>
          <a:stretch>
            <a:fillRect/>
          </a:stretch>
        </p:blipFill>
        <p:spPr>
          <a:xfrm>
            <a:off x="6610320" y="196560"/>
            <a:ext cx="4751640" cy="1359720"/>
          </a:xfrm>
          <a:prstGeom prst="rect">
            <a:avLst/>
          </a:prstGeom>
          <a:ln w="0">
            <a:noFill/>
          </a:ln>
        </p:spPr>
      </p:pic>
      <p:sp>
        <p:nvSpPr>
          <p:cNvPr id="57" name="TextBox 23"/>
          <p:cNvSpPr/>
          <p:nvPr/>
        </p:nvSpPr>
        <p:spPr>
          <a:xfrm>
            <a:off x="1360080" y="1608480"/>
            <a:ext cx="15924960" cy="162750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200" b="1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Vel Tech Rangarajan Dr. Sagunthala R&amp;D Institute of Science and Technology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3600" b="1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School of Computing 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3200" b="1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Department of Computer Science and Engineering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TextBox 25"/>
          <p:cNvSpPr/>
          <p:nvPr/>
        </p:nvSpPr>
        <p:spPr>
          <a:xfrm>
            <a:off x="1692720" y="3272400"/>
            <a:ext cx="152593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strike="noStrike" spc="-1">
                <a:solidFill>
                  <a:srgbClr val="0033CC"/>
                </a:solidFill>
                <a:latin typeface="Bookman Old Style" panose="02050604050505020204"/>
              </a:rPr>
              <a:t>10211DS224 / FULL STACK APPLICATION DEVELOPMENT (JAVA)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" name="TextBox 26"/>
          <p:cNvSpPr/>
          <p:nvPr/>
        </p:nvSpPr>
        <p:spPr>
          <a:xfrm>
            <a:off x="3727800" y="3898080"/>
            <a:ext cx="1118952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IN" sz="3600" b="1" strike="noStrike" spc="-1">
                <a:solidFill>
                  <a:srgbClr val="C00000"/>
                </a:solidFill>
                <a:latin typeface="Arial" panose="020B0604020202020204"/>
              </a:rPr>
              <a:t>PROJECT REVIEW : MILESTONE PROJECT – FINAL REVIEW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</a:pP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3600" b="1" strike="noStrike" spc="-1">
                <a:solidFill>
                  <a:srgbClr val="C00000"/>
                </a:solidFill>
                <a:latin typeface="Arial" panose="020B0604020202020204"/>
              </a:rPr>
              <a:t>Date: 06-05-2026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" name="TextBox 12"/>
          <p:cNvSpPr/>
          <p:nvPr/>
        </p:nvSpPr>
        <p:spPr>
          <a:xfrm>
            <a:off x="1501560" y="6058080"/>
            <a:ext cx="1578348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200" b="1" strike="noStrike" spc="-1">
                <a:solidFill>
                  <a:srgbClr val="0033CC"/>
                </a:solidFill>
                <a:latin typeface="Times New Roman" panose="02020603050405020304"/>
              </a:rPr>
              <a:t>JOB PORTAL MANAGEMENT SYSTEM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93880" y="7800480"/>
            <a:ext cx="9066960" cy="147383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lang="en-US" sz="3000" b="1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Presented By:</a:t>
            </a:r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GB" altLang="en-US" sz="3000" b="0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GL DURGA PRASAD</a:t>
            </a:r>
            <a:r>
              <a:rPr lang="en-US" sz="3000" b="0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 – VTU2</a:t>
            </a:r>
            <a:r>
              <a:rPr lang="en-GB" altLang="en-US" sz="3000" b="0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7331</a:t>
            </a:r>
            <a:r>
              <a:rPr lang="en-US" sz="3000" b="0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 –23UE</a:t>
            </a:r>
            <a:r>
              <a:rPr lang="en-GB" altLang="en-US" sz="3000" b="0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CS0717</a:t>
            </a:r>
            <a:endParaRPr lang="en-GB" altLang="en-US" sz="3000" b="0" strike="noStrike" spc="-1">
              <a:solidFill>
                <a:schemeClr val="dk1"/>
              </a:solidFill>
              <a:latin typeface="Cambria" panose="02040503050406030204"/>
              <a:ea typeface="Cambria" panose="02040503050406030204"/>
            </a:endParaRPr>
          </a:p>
        </p:txBody>
      </p:sp>
      <p:sp>
        <p:nvSpPr>
          <p:cNvPr id="62" name="TextBox 14"/>
          <p:cNvSpPr/>
          <p:nvPr/>
        </p:nvSpPr>
        <p:spPr>
          <a:xfrm>
            <a:off x="10945080" y="7818480"/>
            <a:ext cx="6913800" cy="147383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lang="en-US" sz="3000" b="1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Courses Handling Faculty:</a:t>
            </a:r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Dr. Sumithra M</a:t>
            </a:r>
            <a:r>
              <a:rPr lang="en-US" sz="3000" b="0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,</a:t>
            </a:r>
            <a:r>
              <a:rPr lang="en-GB" altLang="en-US" sz="3000" b="0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-</a:t>
            </a:r>
            <a:r>
              <a:rPr lang="en-US" sz="3000" b="0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 Assistant Professor</a:t>
            </a:r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" name="TextBox 15"/>
          <p:cNvSpPr/>
          <p:nvPr/>
        </p:nvSpPr>
        <p:spPr>
          <a:xfrm>
            <a:off x="2209680" y="6972480"/>
            <a:ext cx="147423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strike="noStrike" spc="-1">
                <a:solidFill>
                  <a:schemeClr val="dk1"/>
                </a:solidFill>
                <a:latin typeface="Cambria" panose="02040503050406030204"/>
                <a:ea typeface="Cambria" panose="02040503050406030204"/>
              </a:rPr>
              <a:t>SDG 8: Decent Work and Economic Growth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 8"/>
          <p:cNvSpPr/>
          <p:nvPr/>
        </p:nvSpPr>
        <p:spPr>
          <a:xfrm>
            <a:off x="16313400" y="91044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65" name="Group 9"/>
          <p:cNvGrpSpPr/>
          <p:nvPr/>
        </p:nvGrpSpPr>
        <p:grpSpPr>
          <a:xfrm>
            <a:off x="705960" y="1952280"/>
            <a:ext cx="991800" cy="991800"/>
            <a:chOff x="705960" y="1952280"/>
            <a:chExt cx="991800" cy="991800"/>
          </a:xfrm>
        </p:grpSpPr>
        <p:sp>
          <p:nvSpPr>
            <p:cNvPr id="66" name="Freeform 10"/>
            <p:cNvSpPr/>
            <p:nvPr/>
          </p:nvSpPr>
          <p:spPr>
            <a:xfrm>
              <a:off x="705960" y="195228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7" name="TextBox 11"/>
            <p:cNvSpPr/>
            <p:nvPr/>
          </p:nvSpPr>
          <p:spPr>
            <a:xfrm>
              <a:off x="799200" y="197532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700" b="0" strike="noStrike" spc="-1">
                  <a:solidFill>
                    <a:srgbClr val="FFFEFE"/>
                  </a:solidFill>
                  <a:latin typeface="Gotham"/>
                  <a:ea typeface="Gotham"/>
                </a:rPr>
                <a:t>1</a:t>
              </a:r>
              <a:endParaRPr lang="en-US" sz="2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68" name="Group 12"/>
          <p:cNvGrpSpPr/>
          <p:nvPr/>
        </p:nvGrpSpPr>
        <p:grpSpPr>
          <a:xfrm>
            <a:off x="948240" y="4447440"/>
            <a:ext cx="507600" cy="543240"/>
            <a:chOff x="948240" y="4447440"/>
            <a:chExt cx="507600" cy="543240"/>
          </a:xfrm>
        </p:grpSpPr>
        <p:sp>
          <p:nvSpPr>
            <p:cNvPr id="69" name="Freeform 13"/>
            <p:cNvSpPr/>
            <p:nvPr/>
          </p:nvSpPr>
          <p:spPr>
            <a:xfrm>
              <a:off x="948240" y="44474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0" name="TextBox 14"/>
            <p:cNvSpPr/>
            <p:nvPr/>
          </p:nvSpPr>
          <p:spPr>
            <a:xfrm>
              <a:off x="995760" y="44805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71" name="Group 15"/>
          <p:cNvGrpSpPr/>
          <p:nvPr/>
        </p:nvGrpSpPr>
        <p:grpSpPr>
          <a:xfrm>
            <a:off x="948240" y="3107520"/>
            <a:ext cx="507600" cy="543240"/>
            <a:chOff x="948240" y="3107520"/>
            <a:chExt cx="507600" cy="543240"/>
          </a:xfrm>
        </p:grpSpPr>
        <p:sp>
          <p:nvSpPr>
            <p:cNvPr id="72" name="Freeform 16"/>
            <p:cNvSpPr/>
            <p:nvPr/>
          </p:nvSpPr>
          <p:spPr>
            <a:xfrm>
              <a:off x="948240" y="3107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3" name="TextBox 17"/>
            <p:cNvSpPr/>
            <p:nvPr/>
          </p:nvSpPr>
          <p:spPr>
            <a:xfrm>
              <a:off x="995760" y="3140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74" name="Group 18"/>
          <p:cNvGrpSpPr/>
          <p:nvPr/>
        </p:nvGrpSpPr>
        <p:grpSpPr>
          <a:xfrm>
            <a:off x="948240" y="5115600"/>
            <a:ext cx="507600" cy="543240"/>
            <a:chOff x="948240" y="5115600"/>
            <a:chExt cx="507600" cy="543240"/>
          </a:xfrm>
        </p:grpSpPr>
        <p:sp>
          <p:nvSpPr>
            <p:cNvPr id="75" name="Freeform 19"/>
            <p:cNvSpPr/>
            <p:nvPr/>
          </p:nvSpPr>
          <p:spPr>
            <a:xfrm>
              <a:off x="948240" y="51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6" name="TextBox 20"/>
            <p:cNvSpPr/>
            <p:nvPr/>
          </p:nvSpPr>
          <p:spPr>
            <a:xfrm>
              <a:off x="995760" y="51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77" name="Group 21"/>
          <p:cNvGrpSpPr/>
          <p:nvPr/>
        </p:nvGrpSpPr>
        <p:grpSpPr>
          <a:xfrm>
            <a:off x="948240" y="3776400"/>
            <a:ext cx="507600" cy="543240"/>
            <a:chOff x="948240" y="3776400"/>
            <a:chExt cx="507600" cy="543240"/>
          </a:xfrm>
        </p:grpSpPr>
        <p:sp>
          <p:nvSpPr>
            <p:cNvPr id="78" name="Freeform 22"/>
            <p:cNvSpPr/>
            <p:nvPr/>
          </p:nvSpPr>
          <p:spPr>
            <a:xfrm>
              <a:off x="948240" y="3776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9" name="TextBox 23"/>
            <p:cNvSpPr/>
            <p:nvPr/>
          </p:nvSpPr>
          <p:spPr>
            <a:xfrm>
              <a:off x="995760" y="3809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80" name="Group 24"/>
          <p:cNvGrpSpPr/>
          <p:nvPr/>
        </p:nvGrpSpPr>
        <p:grpSpPr>
          <a:xfrm>
            <a:off x="948240" y="6455880"/>
            <a:ext cx="507600" cy="543240"/>
            <a:chOff x="948240" y="6455880"/>
            <a:chExt cx="507600" cy="543240"/>
          </a:xfrm>
        </p:grpSpPr>
        <p:sp>
          <p:nvSpPr>
            <p:cNvPr id="81" name="Freeform 25"/>
            <p:cNvSpPr/>
            <p:nvPr/>
          </p:nvSpPr>
          <p:spPr>
            <a:xfrm>
              <a:off x="948240" y="6455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82" name="TextBox 26"/>
            <p:cNvSpPr/>
            <p:nvPr/>
          </p:nvSpPr>
          <p:spPr>
            <a:xfrm>
              <a:off x="995760" y="6489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83" name="Group 27"/>
          <p:cNvGrpSpPr/>
          <p:nvPr/>
        </p:nvGrpSpPr>
        <p:grpSpPr>
          <a:xfrm>
            <a:off x="948240" y="5784840"/>
            <a:ext cx="507600" cy="543240"/>
            <a:chOff x="948240" y="5784840"/>
            <a:chExt cx="507600" cy="543240"/>
          </a:xfrm>
        </p:grpSpPr>
        <p:sp>
          <p:nvSpPr>
            <p:cNvPr id="84" name="Freeform 28"/>
            <p:cNvSpPr/>
            <p:nvPr/>
          </p:nvSpPr>
          <p:spPr>
            <a:xfrm>
              <a:off x="948240" y="5784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85" name="TextBox 29"/>
            <p:cNvSpPr/>
            <p:nvPr/>
          </p:nvSpPr>
          <p:spPr>
            <a:xfrm>
              <a:off x="995760" y="5817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86" name="Group 36"/>
          <p:cNvGrpSpPr/>
          <p:nvPr/>
        </p:nvGrpSpPr>
        <p:grpSpPr>
          <a:xfrm>
            <a:off x="948240" y="7123320"/>
            <a:ext cx="507600" cy="543240"/>
            <a:chOff x="948240" y="7123320"/>
            <a:chExt cx="507600" cy="543240"/>
          </a:xfrm>
        </p:grpSpPr>
        <p:sp>
          <p:nvSpPr>
            <p:cNvPr id="87" name="Freeform 37"/>
            <p:cNvSpPr/>
            <p:nvPr/>
          </p:nvSpPr>
          <p:spPr>
            <a:xfrm>
              <a:off x="948240" y="71233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88" name="TextBox 38"/>
            <p:cNvSpPr/>
            <p:nvPr/>
          </p:nvSpPr>
          <p:spPr>
            <a:xfrm>
              <a:off x="995760" y="71564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8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89" name="Group 39"/>
          <p:cNvGrpSpPr/>
          <p:nvPr/>
        </p:nvGrpSpPr>
        <p:grpSpPr>
          <a:xfrm>
            <a:off x="948240" y="7791120"/>
            <a:ext cx="507600" cy="543240"/>
            <a:chOff x="948240" y="7791120"/>
            <a:chExt cx="507600" cy="543240"/>
          </a:xfrm>
        </p:grpSpPr>
        <p:sp>
          <p:nvSpPr>
            <p:cNvPr id="90" name="Freeform 40"/>
            <p:cNvSpPr/>
            <p:nvPr/>
          </p:nvSpPr>
          <p:spPr>
            <a:xfrm>
              <a:off x="948240" y="77911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91" name="TextBox 41"/>
            <p:cNvSpPr/>
            <p:nvPr/>
          </p:nvSpPr>
          <p:spPr>
            <a:xfrm>
              <a:off x="995760" y="78242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92" name="TextBox 1"/>
          <p:cNvSpPr/>
          <p:nvPr/>
        </p:nvSpPr>
        <p:spPr>
          <a:xfrm>
            <a:off x="152280" y="343080"/>
            <a:ext cx="181350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INTRODUCTION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2209680" y="1638360"/>
            <a:ext cx="15081480" cy="12898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The job search and hiring process remains fragmented, with employers relying on manual resume screening and candidates struggling to track status.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Existing systems lack seamless integration between posting, applying, and shortlisting workflows.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This project addresses inefficiencies by delivering a unified platform for resume uploads, job searches, and online applications.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Employers can post positions, view applicants, and manage the hiring pipeline effectively.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Built with Spring Boot the system provides role-based dashboards for automated tracking.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The platform enables real-time status updates for both job seekers and employers.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10"/>
          <p:cNvSpPr/>
          <p:nvPr/>
        </p:nvSpPr>
        <p:spPr>
          <a:xfrm>
            <a:off x="16313400" y="91044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95" name="Group 11"/>
          <p:cNvGrpSpPr/>
          <p:nvPr/>
        </p:nvGrpSpPr>
        <p:grpSpPr>
          <a:xfrm>
            <a:off x="709200" y="2648160"/>
            <a:ext cx="991800" cy="991800"/>
            <a:chOff x="709200" y="2648160"/>
            <a:chExt cx="991800" cy="991800"/>
          </a:xfrm>
        </p:grpSpPr>
        <p:sp>
          <p:nvSpPr>
            <p:cNvPr id="96" name="Freeform 12"/>
            <p:cNvSpPr/>
            <p:nvPr/>
          </p:nvSpPr>
          <p:spPr>
            <a:xfrm>
              <a:off x="709200" y="264816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97" name="TextBox 13"/>
            <p:cNvSpPr/>
            <p:nvPr/>
          </p:nvSpPr>
          <p:spPr>
            <a:xfrm>
              <a:off x="802440" y="267120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700" b="0" strike="noStrike" spc="-1">
                  <a:solidFill>
                    <a:srgbClr val="FFFEFE"/>
                  </a:solidFill>
                  <a:latin typeface="Gotham"/>
                  <a:ea typeface="Gotham"/>
                </a:rPr>
                <a:t>2</a:t>
              </a:r>
              <a:endParaRPr lang="en-US" sz="2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98" name="Group 14"/>
          <p:cNvGrpSpPr/>
          <p:nvPr/>
        </p:nvGrpSpPr>
        <p:grpSpPr>
          <a:xfrm>
            <a:off x="951480" y="4428360"/>
            <a:ext cx="507600" cy="543240"/>
            <a:chOff x="951480" y="4428360"/>
            <a:chExt cx="507600" cy="543240"/>
          </a:xfrm>
        </p:grpSpPr>
        <p:sp>
          <p:nvSpPr>
            <p:cNvPr id="99" name="Freeform 15"/>
            <p:cNvSpPr/>
            <p:nvPr/>
          </p:nvSpPr>
          <p:spPr>
            <a:xfrm>
              <a:off x="951480" y="44283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00" name="TextBox 16"/>
            <p:cNvSpPr/>
            <p:nvPr/>
          </p:nvSpPr>
          <p:spPr>
            <a:xfrm>
              <a:off x="999000" y="44614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01" name="Group 17"/>
          <p:cNvGrpSpPr/>
          <p:nvPr/>
        </p:nvGrpSpPr>
        <p:grpSpPr>
          <a:xfrm>
            <a:off x="951480" y="1982520"/>
            <a:ext cx="507600" cy="543240"/>
            <a:chOff x="951480" y="1982520"/>
            <a:chExt cx="507600" cy="543240"/>
          </a:xfrm>
        </p:grpSpPr>
        <p:sp>
          <p:nvSpPr>
            <p:cNvPr id="102" name="Freeform 18"/>
            <p:cNvSpPr/>
            <p:nvPr/>
          </p:nvSpPr>
          <p:spPr>
            <a:xfrm>
              <a:off x="95148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03" name="TextBox 19"/>
            <p:cNvSpPr/>
            <p:nvPr/>
          </p:nvSpPr>
          <p:spPr>
            <a:xfrm>
              <a:off x="99900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04" name="Group 20"/>
          <p:cNvGrpSpPr/>
          <p:nvPr/>
        </p:nvGrpSpPr>
        <p:grpSpPr>
          <a:xfrm>
            <a:off x="951480" y="5094000"/>
            <a:ext cx="507600" cy="543240"/>
            <a:chOff x="951480" y="5094000"/>
            <a:chExt cx="507600" cy="543240"/>
          </a:xfrm>
        </p:grpSpPr>
        <p:sp>
          <p:nvSpPr>
            <p:cNvPr id="105" name="Freeform 21"/>
            <p:cNvSpPr/>
            <p:nvPr/>
          </p:nvSpPr>
          <p:spPr>
            <a:xfrm>
              <a:off x="951480" y="50940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06" name="TextBox 22"/>
            <p:cNvSpPr/>
            <p:nvPr/>
          </p:nvSpPr>
          <p:spPr>
            <a:xfrm>
              <a:off x="999000" y="51271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07" name="Group 23"/>
          <p:cNvGrpSpPr/>
          <p:nvPr/>
        </p:nvGrpSpPr>
        <p:grpSpPr>
          <a:xfrm>
            <a:off x="951480" y="3762360"/>
            <a:ext cx="507600" cy="543240"/>
            <a:chOff x="951480" y="3762360"/>
            <a:chExt cx="507600" cy="543240"/>
          </a:xfrm>
        </p:grpSpPr>
        <p:sp>
          <p:nvSpPr>
            <p:cNvPr id="108" name="Freeform 24"/>
            <p:cNvSpPr/>
            <p:nvPr/>
          </p:nvSpPr>
          <p:spPr>
            <a:xfrm>
              <a:off x="951480" y="37623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09" name="TextBox 25"/>
            <p:cNvSpPr/>
            <p:nvPr/>
          </p:nvSpPr>
          <p:spPr>
            <a:xfrm>
              <a:off x="999000" y="37954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10" name="Group 26"/>
          <p:cNvGrpSpPr/>
          <p:nvPr/>
        </p:nvGrpSpPr>
        <p:grpSpPr>
          <a:xfrm>
            <a:off x="951480" y="6425640"/>
            <a:ext cx="507600" cy="543240"/>
            <a:chOff x="951480" y="6425640"/>
            <a:chExt cx="507600" cy="543240"/>
          </a:xfrm>
        </p:grpSpPr>
        <p:sp>
          <p:nvSpPr>
            <p:cNvPr id="111" name="Freeform 27"/>
            <p:cNvSpPr/>
            <p:nvPr/>
          </p:nvSpPr>
          <p:spPr>
            <a:xfrm>
              <a:off x="951480" y="6425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12" name="TextBox 28"/>
            <p:cNvSpPr/>
            <p:nvPr/>
          </p:nvSpPr>
          <p:spPr>
            <a:xfrm>
              <a:off x="999000" y="6458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13" name="Group 29"/>
          <p:cNvGrpSpPr/>
          <p:nvPr/>
        </p:nvGrpSpPr>
        <p:grpSpPr>
          <a:xfrm>
            <a:off x="951480" y="5760000"/>
            <a:ext cx="507600" cy="543240"/>
            <a:chOff x="951480" y="5760000"/>
            <a:chExt cx="507600" cy="543240"/>
          </a:xfrm>
        </p:grpSpPr>
        <p:sp>
          <p:nvSpPr>
            <p:cNvPr id="114" name="Freeform 30"/>
            <p:cNvSpPr/>
            <p:nvPr/>
          </p:nvSpPr>
          <p:spPr>
            <a:xfrm>
              <a:off x="951480" y="57600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15" name="TextBox 31"/>
            <p:cNvSpPr/>
            <p:nvPr/>
          </p:nvSpPr>
          <p:spPr>
            <a:xfrm>
              <a:off x="999000" y="5792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16" name="Group 36"/>
          <p:cNvGrpSpPr/>
          <p:nvPr/>
        </p:nvGrpSpPr>
        <p:grpSpPr>
          <a:xfrm>
            <a:off x="951480" y="7093080"/>
            <a:ext cx="507600" cy="543240"/>
            <a:chOff x="951480" y="7093080"/>
            <a:chExt cx="507600" cy="543240"/>
          </a:xfrm>
        </p:grpSpPr>
        <p:sp>
          <p:nvSpPr>
            <p:cNvPr id="117" name="Freeform 37"/>
            <p:cNvSpPr/>
            <p:nvPr/>
          </p:nvSpPr>
          <p:spPr>
            <a:xfrm>
              <a:off x="951480" y="70930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18" name="TextBox 38"/>
            <p:cNvSpPr/>
            <p:nvPr/>
          </p:nvSpPr>
          <p:spPr>
            <a:xfrm>
              <a:off x="999000" y="71262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8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19" name="Group 39"/>
          <p:cNvGrpSpPr/>
          <p:nvPr/>
        </p:nvGrpSpPr>
        <p:grpSpPr>
          <a:xfrm>
            <a:off x="951480" y="7760880"/>
            <a:ext cx="507600" cy="543240"/>
            <a:chOff x="951480" y="7760880"/>
            <a:chExt cx="507600" cy="543240"/>
          </a:xfrm>
        </p:grpSpPr>
        <p:sp>
          <p:nvSpPr>
            <p:cNvPr id="120" name="Freeform 40"/>
            <p:cNvSpPr/>
            <p:nvPr/>
          </p:nvSpPr>
          <p:spPr>
            <a:xfrm>
              <a:off x="95148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21" name="TextBox 41"/>
            <p:cNvSpPr/>
            <p:nvPr/>
          </p:nvSpPr>
          <p:spPr>
            <a:xfrm>
              <a:off x="99900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22" name="TextBox 46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PROBLEM STATEMENT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3" name="TextBox 47"/>
          <p:cNvSpPr/>
          <p:nvPr/>
        </p:nvSpPr>
        <p:spPr>
          <a:xfrm>
            <a:off x="1981080" y="2321640"/>
            <a:ext cx="15081480" cy="5640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Current portals lack automated shortlisting workflows, forcing manual review of every application.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Students face difficulties tracking application status and receiving notifications for shortlisted positions.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Manual resume collection leads to disorganized hiring pipelines and delays in selection. 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The absence of integrated file upload and download functionality creates friction in the process.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These inefficiencies result in longer hiring cycles and missed opportunities.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7"/>
          <p:cNvGrpSpPr/>
          <p:nvPr/>
        </p:nvGrpSpPr>
        <p:grpSpPr>
          <a:xfrm>
            <a:off x="709200" y="3315600"/>
            <a:ext cx="991800" cy="991800"/>
            <a:chOff x="709200" y="3315600"/>
            <a:chExt cx="991800" cy="991800"/>
          </a:xfrm>
        </p:grpSpPr>
        <p:sp>
          <p:nvSpPr>
            <p:cNvPr id="125" name="Freeform 8"/>
            <p:cNvSpPr/>
            <p:nvPr/>
          </p:nvSpPr>
          <p:spPr>
            <a:xfrm>
              <a:off x="709200" y="331560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6" name="TextBox 9"/>
            <p:cNvSpPr/>
            <p:nvPr/>
          </p:nvSpPr>
          <p:spPr>
            <a:xfrm>
              <a:off x="802440" y="333900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700" b="0" strike="noStrike" spc="-1">
                  <a:solidFill>
                    <a:srgbClr val="FFFEFE"/>
                  </a:solidFill>
                  <a:latin typeface="Gotham"/>
                  <a:ea typeface="Gotham"/>
                </a:rPr>
                <a:t>3</a:t>
              </a:r>
              <a:endParaRPr lang="en-US" sz="2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27" name="Group 10"/>
          <p:cNvGrpSpPr/>
          <p:nvPr/>
        </p:nvGrpSpPr>
        <p:grpSpPr>
          <a:xfrm>
            <a:off x="951480" y="4428360"/>
            <a:ext cx="507600" cy="543240"/>
            <a:chOff x="951480" y="4428360"/>
            <a:chExt cx="507600" cy="543240"/>
          </a:xfrm>
        </p:grpSpPr>
        <p:sp>
          <p:nvSpPr>
            <p:cNvPr id="128" name="Freeform 11"/>
            <p:cNvSpPr/>
            <p:nvPr/>
          </p:nvSpPr>
          <p:spPr>
            <a:xfrm>
              <a:off x="951480" y="44283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29" name="TextBox 12"/>
            <p:cNvSpPr/>
            <p:nvPr/>
          </p:nvSpPr>
          <p:spPr>
            <a:xfrm>
              <a:off x="999000" y="44614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30" name="Group 13"/>
          <p:cNvGrpSpPr/>
          <p:nvPr/>
        </p:nvGrpSpPr>
        <p:grpSpPr>
          <a:xfrm>
            <a:off x="951480" y="1982520"/>
            <a:ext cx="507600" cy="543240"/>
            <a:chOff x="951480" y="1982520"/>
            <a:chExt cx="507600" cy="543240"/>
          </a:xfrm>
        </p:grpSpPr>
        <p:sp>
          <p:nvSpPr>
            <p:cNvPr id="131" name="Freeform 14"/>
            <p:cNvSpPr/>
            <p:nvPr/>
          </p:nvSpPr>
          <p:spPr>
            <a:xfrm>
              <a:off x="95148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32" name="TextBox 15"/>
            <p:cNvSpPr/>
            <p:nvPr/>
          </p:nvSpPr>
          <p:spPr>
            <a:xfrm>
              <a:off x="99900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33" name="Group 16"/>
          <p:cNvGrpSpPr/>
          <p:nvPr/>
        </p:nvGrpSpPr>
        <p:grpSpPr>
          <a:xfrm>
            <a:off x="951480" y="5094000"/>
            <a:ext cx="507600" cy="543240"/>
            <a:chOff x="951480" y="5094000"/>
            <a:chExt cx="507600" cy="543240"/>
          </a:xfrm>
        </p:grpSpPr>
        <p:sp>
          <p:nvSpPr>
            <p:cNvPr id="134" name="Freeform 17"/>
            <p:cNvSpPr/>
            <p:nvPr/>
          </p:nvSpPr>
          <p:spPr>
            <a:xfrm>
              <a:off x="951480" y="50940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35" name="TextBox 18"/>
            <p:cNvSpPr/>
            <p:nvPr/>
          </p:nvSpPr>
          <p:spPr>
            <a:xfrm>
              <a:off x="999000" y="51271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36" name="Group 19"/>
          <p:cNvGrpSpPr/>
          <p:nvPr/>
        </p:nvGrpSpPr>
        <p:grpSpPr>
          <a:xfrm>
            <a:off x="951480" y="2648160"/>
            <a:ext cx="507600" cy="543240"/>
            <a:chOff x="951480" y="2648160"/>
            <a:chExt cx="507600" cy="543240"/>
          </a:xfrm>
        </p:grpSpPr>
        <p:sp>
          <p:nvSpPr>
            <p:cNvPr id="137" name="Freeform 20"/>
            <p:cNvSpPr/>
            <p:nvPr/>
          </p:nvSpPr>
          <p:spPr>
            <a:xfrm>
              <a:off x="95148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38" name="TextBox 21"/>
            <p:cNvSpPr/>
            <p:nvPr/>
          </p:nvSpPr>
          <p:spPr>
            <a:xfrm>
              <a:off x="99900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39" name="Group 22"/>
          <p:cNvGrpSpPr/>
          <p:nvPr/>
        </p:nvGrpSpPr>
        <p:grpSpPr>
          <a:xfrm>
            <a:off x="951480" y="6425640"/>
            <a:ext cx="507600" cy="543240"/>
            <a:chOff x="951480" y="6425640"/>
            <a:chExt cx="507600" cy="543240"/>
          </a:xfrm>
        </p:grpSpPr>
        <p:sp>
          <p:nvSpPr>
            <p:cNvPr id="140" name="Freeform 23"/>
            <p:cNvSpPr/>
            <p:nvPr/>
          </p:nvSpPr>
          <p:spPr>
            <a:xfrm>
              <a:off x="951480" y="6425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41" name="TextBox 24"/>
            <p:cNvSpPr/>
            <p:nvPr/>
          </p:nvSpPr>
          <p:spPr>
            <a:xfrm>
              <a:off x="999000" y="6458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42" name="Group 25"/>
          <p:cNvGrpSpPr/>
          <p:nvPr/>
        </p:nvGrpSpPr>
        <p:grpSpPr>
          <a:xfrm>
            <a:off x="951480" y="5760000"/>
            <a:ext cx="507600" cy="543240"/>
            <a:chOff x="951480" y="5760000"/>
            <a:chExt cx="507600" cy="543240"/>
          </a:xfrm>
        </p:grpSpPr>
        <p:sp>
          <p:nvSpPr>
            <p:cNvPr id="143" name="Freeform 26"/>
            <p:cNvSpPr/>
            <p:nvPr/>
          </p:nvSpPr>
          <p:spPr>
            <a:xfrm>
              <a:off x="951480" y="57600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44" name="TextBox 27"/>
            <p:cNvSpPr/>
            <p:nvPr/>
          </p:nvSpPr>
          <p:spPr>
            <a:xfrm>
              <a:off x="999000" y="5792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45" name="Group 41"/>
          <p:cNvGrpSpPr/>
          <p:nvPr/>
        </p:nvGrpSpPr>
        <p:grpSpPr>
          <a:xfrm>
            <a:off x="951480" y="7093080"/>
            <a:ext cx="507600" cy="543240"/>
            <a:chOff x="951480" y="7093080"/>
            <a:chExt cx="507600" cy="543240"/>
          </a:xfrm>
        </p:grpSpPr>
        <p:sp>
          <p:nvSpPr>
            <p:cNvPr id="146" name="Freeform 42"/>
            <p:cNvSpPr/>
            <p:nvPr/>
          </p:nvSpPr>
          <p:spPr>
            <a:xfrm>
              <a:off x="951480" y="70930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47" name="TextBox 43"/>
            <p:cNvSpPr/>
            <p:nvPr/>
          </p:nvSpPr>
          <p:spPr>
            <a:xfrm>
              <a:off x="999000" y="71262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8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48" name="Group 44"/>
          <p:cNvGrpSpPr/>
          <p:nvPr/>
        </p:nvGrpSpPr>
        <p:grpSpPr>
          <a:xfrm>
            <a:off x="951480" y="7760880"/>
            <a:ext cx="507600" cy="543240"/>
            <a:chOff x="951480" y="7760880"/>
            <a:chExt cx="507600" cy="543240"/>
          </a:xfrm>
        </p:grpSpPr>
        <p:sp>
          <p:nvSpPr>
            <p:cNvPr id="149" name="Freeform 45"/>
            <p:cNvSpPr/>
            <p:nvPr/>
          </p:nvSpPr>
          <p:spPr>
            <a:xfrm>
              <a:off x="95148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50" name="TextBox 46"/>
            <p:cNvSpPr/>
            <p:nvPr/>
          </p:nvSpPr>
          <p:spPr>
            <a:xfrm>
              <a:off x="99900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51" name="TextBox 49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OBJECTIVE(S)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2" name="Freeform 10"/>
          <p:cNvSpPr/>
          <p:nvPr/>
        </p:nvSpPr>
        <p:spPr>
          <a:xfrm>
            <a:off x="16313400" y="91044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3" name="TextBox 51"/>
          <p:cNvSpPr/>
          <p:nvPr/>
        </p:nvSpPr>
        <p:spPr>
          <a:xfrm>
            <a:off x="2209680" y="1638360"/>
            <a:ext cx="15081480" cy="5640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To design and develop a web-based Job Portal enabling students to upload resumes, search/filter jobs, and apply online.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To implement employer-side functionality for posting jobs, downloading resumes, and managing candidate status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13"/>
          <p:cNvGrpSpPr/>
          <p:nvPr/>
        </p:nvGrpSpPr>
        <p:grpSpPr>
          <a:xfrm>
            <a:off x="709200" y="3983400"/>
            <a:ext cx="991800" cy="991800"/>
            <a:chOff x="709200" y="3983400"/>
            <a:chExt cx="991800" cy="991800"/>
          </a:xfrm>
        </p:grpSpPr>
        <p:sp>
          <p:nvSpPr>
            <p:cNvPr id="155" name="Freeform 14"/>
            <p:cNvSpPr/>
            <p:nvPr/>
          </p:nvSpPr>
          <p:spPr>
            <a:xfrm>
              <a:off x="709200" y="398340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56" name="TextBox 15"/>
            <p:cNvSpPr/>
            <p:nvPr/>
          </p:nvSpPr>
          <p:spPr>
            <a:xfrm>
              <a:off x="802440" y="400680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700" b="0" strike="noStrike" spc="-1">
                  <a:solidFill>
                    <a:srgbClr val="FFFEFE"/>
                  </a:solidFill>
                  <a:latin typeface="Gotham"/>
                  <a:ea typeface="Gotham"/>
                </a:rPr>
                <a:t>4</a:t>
              </a:r>
              <a:endParaRPr lang="en-US" sz="2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57" name="Group 16"/>
          <p:cNvGrpSpPr/>
          <p:nvPr/>
        </p:nvGrpSpPr>
        <p:grpSpPr>
          <a:xfrm>
            <a:off x="951480" y="3315600"/>
            <a:ext cx="507600" cy="543240"/>
            <a:chOff x="951480" y="3315600"/>
            <a:chExt cx="507600" cy="543240"/>
          </a:xfrm>
        </p:grpSpPr>
        <p:sp>
          <p:nvSpPr>
            <p:cNvPr id="158" name="Freeform 17"/>
            <p:cNvSpPr/>
            <p:nvPr/>
          </p:nvSpPr>
          <p:spPr>
            <a:xfrm>
              <a:off x="951480" y="33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59" name="TextBox 18"/>
            <p:cNvSpPr/>
            <p:nvPr/>
          </p:nvSpPr>
          <p:spPr>
            <a:xfrm>
              <a:off x="999000" y="33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60" name="Group 19"/>
          <p:cNvGrpSpPr/>
          <p:nvPr/>
        </p:nvGrpSpPr>
        <p:grpSpPr>
          <a:xfrm>
            <a:off x="951480" y="1982520"/>
            <a:ext cx="507600" cy="543240"/>
            <a:chOff x="951480" y="1982520"/>
            <a:chExt cx="507600" cy="543240"/>
          </a:xfrm>
        </p:grpSpPr>
        <p:sp>
          <p:nvSpPr>
            <p:cNvPr id="161" name="Freeform 20"/>
            <p:cNvSpPr/>
            <p:nvPr/>
          </p:nvSpPr>
          <p:spPr>
            <a:xfrm>
              <a:off x="95148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62" name="TextBox 21"/>
            <p:cNvSpPr/>
            <p:nvPr/>
          </p:nvSpPr>
          <p:spPr>
            <a:xfrm>
              <a:off x="99900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63" name="Group 22"/>
          <p:cNvGrpSpPr/>
          <p:nvPr/>
        </p:nvGrpSpPr>
        <p:grpSpPr>
          <a:xfrm>
            <a:off x="951480" y="5094000"/>
            <a:ext cx="507600" cy="543240"/>
            <a:chOff x="951480" y="5094000"/>
            <a:chExt cx="507600" cy="543240"/>
          </a:xfrm>
        </p:grpSpPr>
        <p:sp>
          <p:nvSpPr>
            <p:cNvPr id="164" name="Freeform 23"/>
            <p:cNvSpPr/>
            <p:nvPr/>
          </p:nvSpPr>
          <p:spPr>
            <a:xfrm>
              <a:off x="951480" y="50940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65" name="TextBox 24"/>
            <p:cNvSpPr/>
            <p:nvPr/>
          </p:nvSpPr>
          <p:spPr>
            <a:xfrm>
              <a:off x="999000" y="51271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66" name="Group 25"/>
          <p:cNvGrpSpPr/>
          <p:nvPr/>
        </p:nvGrpSpPr>
        <p:grpSpPr>
          <a:xfrm>
            <a:off x="951480" y="2648160"/>
            <a:ext cx="507600" cy="543240"/>
            <a:chOff x="951480" y="2648160"/>
            <a:chExt cx="507600" cy="543240"/>
          </a:xfrm>
        </p:grpSpPr>
        <p:sp>
          <p:nvSpPr>
            <p:cNvPr id="167" name="Freeform 26"/>
            <p:cNvSpPr/>
            <p:nvPr/>
          </p:nvSpPr>
          <p:spPr>
            <a:xfrm>
              <a:off x="95148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68" name="TextBox 27"/>
            <p:cNvSpPr/>
            <p:nvPr/>
          </p:nvSpPr>
          <p:spPr>
            <a:xfrm>
              <a:off x="99900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69" name="Group 28"/>
          <p:cNvGrpSpPr/>
          <p:nvPr/>
        </p:nvGrpSpPr>
        <p:grpSpPr>
          <a:xfrm>
            <a:off x="951480" y="6425640"/>
            <a:ext cx="507600" cy="543240"/>
            <a:chOff x="951480" y="6425640"/>
            <a:chExt cx="507600" cy="543240"/>
          </a:xfrm>
        </p:grpSpPr>
        <p:sp>
          <p:nvSpPr>
            <p:cNvPr id="170" name="Freeform 29"/>
            <p:cNvSpPr/>
            <p:nvPr/>
          </p:nvSpPr>
          <p:spPr>
            <a:xfrm>
              <a:off x="951480" y="6425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71" name="TextBox 30"/>
            <p:cNvSpPr/>
            <p:nvPr/>
          </p:nvSpPr>
          <p:spPr>
            <a:xfrm>
              <a:off x="999000" y="6458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72" name="Group 31"/>
          <p:cNvGrpSpPr/>
          <p:nvPr/>
        </p:nvGrpSpPr>
        <p:grpSpPr>
          <a:xfrm>
            <a:off x="951480" y="5760000"/>
            <a:ext cx="507600" cy="543240"/>
            <a:chOff x="951480" y="5760000"/>
            <a:chExt cx="507600" cy="543240"/>
          </a:xfrm>
        </p:grpSpPr>
        <p:sp>
          <p:nvSpPr>
            <p:cNvPr id="173" name="Freeform 32"/>
            <p:cNvSpPr/>
            <p:nvPr/>
          </p:nvSpPr>
          <p:spPr>
            <a:xfrm>
              <a:off x="951480" y="57600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74" name="TextBox 33"/>
            <p:cNvSpPr/>
            <p:nvPr/>
          </p:nvSpPr>
          <p:spPr>
            <a:xfrm>
              <a:off x="999000" y="5792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75" name="Group 34"/>
          <p:cNvGrpSpPr/>
          <p:nvPr/>
        </p:nvGrpSpPr>
        <p:grpSpPr>
          <a:xfrm>
            <a:off x="951480" y="7093080"/>
            <a:ext cx="507600" cy="543240"/>
            <a:chOff x="951480" y="7093080"/>
            <a:chExt cx="507600" cy="543240"/>
          </a:xfrm>
        </p:grpSpPr>
        <p:sp>
          <p:nvSpPr>
            <p:cNvPr id="176" name="Freeform 35"/>
            <p:cNvSpPr/>
            <p:nvPr/>
          </p:nvSpPr>
          <p:spPr>
            <a:xfrm>
              <a:off x="951480" y="70930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77" name="TextBox 36"/>
            <p:cNvSpPr/>
            <p:nvPr/>
          </p:nvSpPr>
          <p:spPr>
            <a:xfrm>
              <a:off x="999000" y="71262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8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78" name="Group 37"/>
          <p:cNvGrpSpPr/>
          <p:nvPr/>
        </p:nvGrpSpPr>
        <p:grpSpPr>
          <a:xfrm>
            <a:off x="951480" y="7760880"/>
            <a:ext cx="507600" cy="543240"/>
            <a:chOff x="951480" y="7760880"/>
            <a:chExt cx="507600" cy="543240"/>
          </a:xfrm>
        </p:grpSpPr>
        <p:sp>
          <p:nvSpPr>
            <p:cNvPr id="179" name="Freeform 38"/>
            <p:cNvSpPr/>
            <p:nvPr/>
          </p:nvSpPr>
          <p:spPr>
            <a:xfrm>
              <a:off x="95148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80" name="TextBox 39"/>
            <p:cNvSpPr/>
            <p:nvPr/>
          </p:nvSpPr>
          <p:spPr>
            <a:xfrm>
              <a:off x="99900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181" name="Freeform 10"/>
          <p:cNvSpPr/>
          <p:nvPr/>
        </p:nvSpPr>
        <p:spPr>
          <a:xfrm>
            <a:off x="16313400" y="91044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2" name="TextBox 45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PROPOSED SYSTEM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3" name="TextBox 47"/>
          <p:cNvSpPr/>
          <p:nvPr/>
        </p:nvSpPr>
        <p:spPr>
          <a:xfrm>
            <a:off x="2209680" y="1638360"/>
            <a:ext cx="15081480" cy="5213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914400" lvl="1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Provides a unified platform with role-based access for students and employers. 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914400" lvl="1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Students can register, upload resumes (PDF/Word), and search jobs by category, location, or experience. 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914400" lvl="1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Employers can post detailed job requirements and view applicants with direct resume download links. 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914400" lvl="1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The system includes analytics dashboards showing total, shortlisted, and rejected counts per job.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914400" lvl="1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Security is managed through Spring Security and BCrypt password hashing.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5"/>
          <p:cNvGrpSpPr/>
          <p:nvPr/>
        </p:nvGrpSpPr>
        <p:grpSpPr>
          <a:xfrm>
            <a:off x="709200" y="4655880"/>
            <a:ext cx="991800" cy="991800"/>
            <a:chOff x="709200" y="4655880"/>
            <a:chExt cx="991800" cy="991800"/>
          </a:xfrm>
        </p:grpSpPr>
        <p:sp>
          <p:nvSpPr>
            <p:cNvPr id="185" name="Freeform 6"/>
            <p:cNvSpPr/>
            <p:nvPr/>
          </p:nvSpPr>
          <p:spPr>
            <a:xfrm>
              <a:off x="709200" y="465588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86" name="TextBox 7"/>
            <p:cNvSpPr/>
            <p:nvPr/>
          </p:nvSpPr>
          <p:spPr>
            <a:xfrm>
              <a:off x="802440" y="467892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700" b="0" strike="noStrike" spc="-1">
                  <a:solidFill>
                    <a:srgbClr val="FFFEFE"/>
                  </a:solidFill>
                  <a:latin typeface="Gotham"/>
                  <a:ea typeface="Gotham"/>
                </a:rPr>
                <a:t>5</a:t>
              </a:r>
              <a:endParaRPr lang="en-US" sz="2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87" name="Group 8"/>
          <p:cNvGrpSpPr/>
          <p:nvPr/>
        </p:nvGrpSpPr>
        <p:grpSpPr>
          <a:xfrm>
            <a:off x="951480" y="3320640"/>
            <a:ext cx="507600" cy="543240"/>
            <a:chOff x="951480" y="3320640"/>
            <a:chExt cx="507600" cy="543240"/>
          </a:xfrm>
        </p:grpSpPr>
        <p:sp>
          <p:nvSpPr>
            <p:cNvPr id="188" name="Freeform 9"/>
            <p:cNvSpPr/>
            <p:nvPr/>
          </p:nvSpPr>
          <p:spPr>
            <a:xfrm>
              <a:off x="951480" y="3320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89" name="TextBox 10"/>
            <p:cNvSpPr/>
            <p:nvPr/>
          </p:nvSpPr>
          <p:spPr>
            <a:xfrm>
              <a:off x="999000" y="3353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90" name="Group 11"/>
          <p:cNvGrpSpPr/>
          <p:nvPr/>
        </p:nvGrpSpPr>
        <p:grpSpPr>
          <a:xfrm>
            <a:off x="951480" y="1987200"/>
            <a:ext cx="507600" cy="543240"/>
            <a:chOff x="951480" y="1987200"/>
            <a:chExt cx="507600" cy="543240"/>
          </a:xfrm>
        </p:grpSpPr>
        <p:sp>
          <p:nvSpPr>
            <p:cNvPr id="191" name="Freeform 12"/>
            <p:cNvSpPr/>
            <p:nvPr/>
          </p:nvSpPr>
          <p:spPr>
            <a:xfrm>
              <a:off x="951480" y="19872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92" name="TextBox 13"/>
            <p:cNvSpPr/>
            <p:nvPr/>
          </p:nvSpPr>
          <p:spPr>
            <a:xfrm>
              <a:off x="999000" y="20203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93" name="Group 14"/>
          <p:cNvGrpSpPr/>
          <p:nvPr/>
        </p:nvGrpSpPr>
        <p:grpSpPr>
          <a:xfrm>
            <a:off x="951480" y="3988080"/>
            <a:ext cx="507600" cy="543240"/>
            <a:chOff x="951480" y="3988080"/>
            <a:chExt cx="507600" cy="543240"/>
          </a:xfrm>
        </p:grpSpPr>
        <p:sp>
          <p:nvSpPr>
            <p:cNvPr id="194" name="Freeform 15"/>
            <p:cNvSpPr/>
            <p:nvPr/>
          </p:nvSpPr>
          <p:spPr>
            <a:xfrm>
              <a:off x="951480" y="39880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95" name="TextBox 16"/>
            <p:cNvSpPr/>
            <p:nvPr/>
          </p:nvSpPr>
          <p:spPr>
            <a:xfrm>
              <a:off x="999000" y="40212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96" name="Group 17"/>
          <p:cNvGrpSpPr/>
          <p:nvPr/>
        </p:nvGrpSpPr>
        <p:grpSpPr>
          <a:xfrm>
            <a:off x="951480" y="2652840"/>
            <a:ext cx="507600" cy="543240"/>
            <a:chOff x="951480" y="2652840"/>
            <a:chExt cx="507600" cy="543240"/>
          </a:xfrm>
        </p:grpSpPr>
        <p:sp>
          <p:nvSpPr>
            <p:cNvPr id="197" name="Freeform 18"/>
            <p:cNvSpPr/>
            <p:nvPr/>
          </p:nvSpPr>
          <p:spPr>
            <a:xfrm>
              <a:off x="951480" y="2652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98" name="TextBox 19"/>
            <p:cNvSpPr/>
            <p:nvPr/>
          </p:nvSpPr>
          <p:spPr>
            <a:xfrm>
              <a:off x="999000" y="2685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199" name="Group 20"/>
          <p:cNvGrpSpPr/>
          <p:nvPr/>
        </p:nvGrpSpPr>
        <p:grpSpPr>
          <a:xfrm>
            <a:off x="951480" y="6430320"/>
            <a:ext cx="507600" cy="543240"/>
            <a:chOff x="951480" y="6430320"/>
            <a:chExt cx="507600" cy="543240"/>
          </a:xfrm>
        </p:grpSpPr>
        <p:sp>
          <p:nvSpPr>
            <p:cNvPr id="200" name="Freeform 21"/>
            <p:cNvSpPr/>
            <p:nvPr/>
          </p:nvSpPr>
          <p:spPr>
            <a:xfrm>
              <a:off x="951480" y="64303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01" name="TextBox 22"/>
            <p:cNvSpPr/>
            <p:nvPr/>
          </p:nvSpPr>
          <p:spPr>
            <a:xfrm>
              <a:off x="999000" y="64634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02" name="Group 23"/>
          <p:cNvGrpSpPr/>
          <p:nvPr/>
        </p:nvGrpSpPr>
        <p:grpSpPr>
          <a:xfrm>
            <a:off x="951480" y="5764680"/>
            <a:ext cx="507600" cy="543240"/>
            <a:chOff x="951480" y="5764680"/>
            <a:chExt cx="507600" cy="543240"/>
          </a:xfrm>
        </p:grpSpPr>
        <p:sp>
          <p:nvSpPr>
            <p:cNvPr id="203" name="Freeform 24"/>
            <p:cNvSpPr/>
            <p:nvPr/>
          </p:nvSpPr>
          <p:spPr>
            <a:xfrm>
              <a:off x="951480" y="57646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04" name="TextBox 25"/>
            <p:cNvSpPr/>
            <p:nvPr/>
          </p:nvSpPr>
          <p:spPr>
            <a:xfrm>
              <a:off x="999000" y="57978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05" name="Group 26"/>
          <p:cNvGrpSpPr/>
          <p:nvPr/>
        </p:nvGrpSpPr>
        <p:grpSpPr>
          <a:xfrm>
            <a:off x="951480" y="7088400"/>
            <a:ext cx="507600" cy="543240"/>
            <a:chOff x="951480" y="7088400"/>
            <a:chExt cx="507600" cy="543240"/>
          </a:xfrm>
        </p:grpSpPr>
        <p:sp>
          <p:nvSpPr>
            <p:cNvPr id="206" name="Freeform 27"/>
            <p:cNvSpPr/>
            <p:nvPr/>
          </p:nvSpPr>
          <p:spPr>
            <a:xfrm>
              <a:off x="951480" y="7088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07" name="TextBox 28"/>
            <p:cNvSpPr/>
            <p:nvPr/>
          </p:nvSpPr>
          <p:spPr>
            <a:xfrm>
              <a:off x="999000" y="7121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8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08" name="Group 29"/>
          <p:cNvGrpSpPr/>
          <p:nvPr/>
        </p:nvGrpSpPr>
        <p:grpSpPr>
          <a:xfrm>
            <a:off x="951480" y="7756200"/>
            <a:ext cx="507600" cy="543240"/>
            <a:chOff x="951480" y="7756200"/>
            <a:chExt cx="507600" cy="543240"/>
          </a:xfrm>
        </p:grpSpPr>
        <p:sp>
          <p:nvSpPr>
            <p:cNvPr id="209" name="Freeform 30"/>
            <p:cNvSpPr/>
            <p:nvPr/>
          </p:nvSpPr>
          <p:spPr>
            <a:xfrm>
              <a:off x="951480" y="77562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10" name="TextBox 31"/>
            <p:cNvSpPr/>
            <p:nvPr/>
          </p:nvSpPr>
          <p:spPr>
            <a:xfrm>
              <a:off x="999000" y="77893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11" name="Group 37"/>
          <p:cNvGrpSpPr/>
          <p:nvPr/>
        </p:nvGrpSpPr>
        <p:grpSpPr>
          <a:xfrm>
            <a:off x="11761920" y="-9632520"/>
            <a:ext cx="10993680" cy="10993680"/>
            <a:chOff x="11761920" y="-9632520"/>
            <a:chExt cx="10993680" cy="10993680"/>
          </a:xfrm>
        </p:grpSpPr>
        <p:sp>
          <p:nvSpPr>
            <p:cNvPr id="212" name="Freeform 38"/>
            <p:cNvSpPr/>
            <p:nvPr/>
          </p:nvSpPr>
          <p:spPr>
            <a:xfrm>
              <a:off x="11761920" y="-9632520"/>
              <a:ext cx="10993680" cy="10993680"/>
            </a:xfrm>
            <a:custGeom>
              <a:avLst/>
              <a:gdLst>
                <a:gd name="textAreaLeft" fmla="*/ 0 w 10993680"/>
                <a:gd name="textAreaRight" fmla="*/ 10994400 w 10993680"/>
                <a:gd name="textAreaTop" fmla="*/ 0 h 10993680"/>
                <a:gd name="textAreaBottom" fmla="*/ 10994400 h 109936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14350" cap="sq">
              <a:solidFill>
                <a:srgbClr val="FD6220">
                  <a:alpha val="12000"/>
                </a:srgbClr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13" name="TextBox 39"/>
            <p:cNvSpPr/>
            <p:nvPr/>
          </p:nvSpPr>
          <p:spPr>
            <a:xfrm>
              <a:off x="12792960" y="-8988480"/>
              <a:ext cx="8932320" cy="931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66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 panose="020F0502020204030204"/>
              </a:endParaRPr>
            </a:p>
          </p:txBody>
        </p:sp>
      </p:grpSp>
      <p:sp>
        <p:nvSpPr>
          <p:cNvPr id="214" name="Freeform 10"/>
          <p:cNvSpPr/>
          <p:nvPr/>
        </p:nvSpPr>
        <p:spPr>
          <a:xfrm>
            <a:off x="16313400" y="91044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5" name="TextBox 41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PROPOSED SYSTEM ARCHITECTURE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16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6638925" y="1894205"/>
            <a:ext cx="5550535" cy="672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14"/>
          <p:cNvGrpSpPr/>
          <p:nvPr/>
        </p:nvGrpSpPr>
        <p:grpSpPr>
          <a:xfrm>
            <a:off x="735480" y="5318640"/>
            <a:ext cx="991800" cy="991800"/>
            <a:chOff x="735480" y="5318640"/>
            <a:chExt cx="991800" cy="991800"/>
          </a:xfrm>
        </p:grpSpPr>
        <p:sp>
          <p:nvSpPr>
            <p:cNvPr id="218" name="Freeform 15"/>
            <p:cNvSpPr/>
            <p:nvPr/>
          </p:nvSpPr>
          <p:spPr>
            <a:xfrm>
              <a:off x="735480" y="531864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19" name="TextBox 16"/>
            <p:cNvSpPr/>
            <p:nvPr/>
          </p:nvSpPr>
          <p:spPr>
            <a:xfrm>
              <a:off x="828720" y="534204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700" b="0" strike="noStrike" spc="-1">
                  <a:solidFill>
                    <a:srgbClr val="FFFEFE"/>
                  </a:solidFill>
                  <a:latin typeface="Gotham"/>
                  <a:ea typeface="Gotham"/>
                </a:rPr>
                <a:t>6</a:t>
              </a:r>
              <a:endParaRPr lang="en-US" sz="2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20" name="Group 17"/>
          <p:cNvGrpSpPr/>
          <p:nvPr/>
        </p:nvGrpSpPr>
        <p:grpSpPr>
          <a:xfrm>
            <a:off x="977760" y="3315600"/>
            <a:ext cx="507600" cy="543240"/>
            <a:chOff x="977760" y="3315600"/>
            <a:chExt cx="507600" cy="543240"/>
          </a:xfrm>
        </p:grpSpPr>
        <p:sp>
          <p:nvSpPr>
            <p:cNvPr id="221" name="Freeform 18"/>
            <p:cNvSpPr/>
            <p:nvPr/>
          </p:nvSpPr>
          <p:spPr>
            <a:xfrm>
              <a:off x="977760" y="33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22" name="TextBox 19"/>
            <p:cNvSpPr/>
            <p:nvPr/>
          </p:nvSpPr>
          <p:spPr>
            <a:xfrm>
              <a:off x="1025280" y="33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23" name="Group 20"/>
          <p:cNvGrpSpPr/>
          <p:nvPr/>
        </p:nvGrpSpPr>
        <p:grpSpPr>
          <a:xfrm>
            <a:off x="977760" y="1982520"/>
            <a:ext cx="507600" cy="543240"/>
            <a:chOff x="977760" y="1982520"/>
            <a:chExt cx="507600" cy="543240"/>
          </a:xfrm>
        </p:grpSpPr>
        <p:sp>
          <p:nvSpPr>
            <p:cNvPr id="224" name="Freeform 21"/>
            <p:cNvSpPr/>
            <p:nvPr/>
          </p:nvSpPr>
          <p:spPr>
            <a:xfrm>
              <a:off x="97776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25" name="TextBox 22"/>
            <p:cNvSpPr/>
            <p:nvPr/>
          </p:nvSpPr>
          <p:spPr>
            <a:xfrm>
              <a:off x="102528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26" name="Group 23"/>
          <p:cNvGrpSpPr/>
          <p:nvPr/>
        </p:nvGrpSpPr>
        <p:grpSpPr>
          <a:xfrm>
            <a:off x="977760" y="3983400"/>
            <a:ext cx="507600" cy="543240"/>
            <a:chOff x="977760" y="3983400"/>
            <a:chExt cx="507600" cy="543240"/>
          </a:xfrm>
        </p:grpSpPr>
        <p:sp>
          <p:nvSpPr>
            <p:cNvPr id="227" name="Freeform 24"/>
            <p:cNvSpPr/>
            <p:nvPr/>
          </p:nvSpPr>
          <p:spPr>
            <a:xfrm>
              <a:off x="977760" y="3983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28" name="TextBox 25"/>
            <p:cNvSpPr/>
            <p:nvPr/>
          </p:nvSpPr>
          <p:spPr>
            <a:xfrm>
              <a:off x="1025280" y="4016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29" name="Group 26"/>
          <p:cNvGrpSpPr/>
          <p:nvPr/>
        </p:nvGrpSpPr>
        <p:grpSpPr>
          <a:xfrm>
            <a:off x="977760" y="2648160"/>
            <a:ext cx="507600" cy="543240"/>
            <a:chOff x="977760" y="2648160"/>
            <a:chExt cx="507600" cy="543240"/>
          </a:xfrm>
        </p:grpSpPr>
        <p:sp>
          <p:nvSpPr>
            <p:cNvPr id="230" name="Freeform 27"/>
            <p:cNvSpPr/>
            <p:nvPr/>
          </p:nvSpPr>
          <p:spPr>
            <a:xfrm>
              <a:off x="97776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31" name="TextBox 28"/>
            <p:cNvSpPr/>
            <p:nvPr/>
          </p:nvSpPr>
          <p:spPr>
            <a:xfrm>
              <a:off x="102528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32" name="Group 29"/>
          <p:cNvGrpSpPr/>
          <p:nvPr/>
        </p:nvGrpSpPr>
        <p:grpSpPr>
          <a:xfrm>
            <a:off x="977760" y="6425640"/>
            <a:ext cx="507600" cy="543240"/>
            <a:chOff x="977760" y="6425640"/>
            <a:chExt cx="507600" cy="543240"/>
          </a:xfrm>
        </p:grpSpPr>
        <p:sp>
          <p:nvSpPr>
            <p:cNvPr id="233" name="Freeform 30"/>
            <p:cNvSpPr/>
            <p:nvPr/>
          </p:nvSpPr>
          <p:spPr>
            <a:xfrm>
              <a:off x="977760" y="6425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34" name="TextBox 31"/>
            <p:cNvSpPr/>
            <p:nvPr/>
          </p:nvSpPr>
          <p:spPr>
            <a:xfrm>
              <a:off x="1025280" y="6458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35" name="Group 32"/>
          <p:cNvGrpSpPr/>
          <p:nvPr/>
        </p:nvGrpSpPr>
        <p:grpSpPr>
          <a:xfrm>
            <a:off x="977760" y="4650840"/>
            <a:ext cx="507600" cy="543240"/>
            <a:chOff x="977760" y="4650840"/>
            <a:chExt cx="507600" cy="543240"/>
          </a:xfrm>
        </p:grpSpPr>
        <p:sp>
          <p:nvSpPr>
            <p:cNvPr id="236" name="Freeform 33"/>
            <p:cNvSpPr/>
            <p:nvPr/>
          </p:nvSpPr>
          <p:spPr>
            <a:xfrm>
              <a:off x="977760" y="4650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37" name="TextBox 34"/>
            <p:cNvSpPr/>
            <p:nvPr/>
          </p:nvSpPr>
          <p:spPr>
            <a:xfrm>
              <a:off x="1025280" y="4683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38" name="Group 37"/>
          <p:cNvGrpSpPr/>
          <p:nvPr/>
        </p:nvGrpSpPr>
        <p:grpSpPr>
          <a:xfrm>
            <a:off x="977760" y="7093080"/>
            <a:ext cx="507600" cy="543240"/>
            <a:chOff x="977760" y="7093080"/>
            <a:chExt cx="507600" cy="543240"/>
          </a:xfrm>
        </p:grpSpPr>
        <p:sp>
          <p:nvSpPr>
            <p:cNvPr id="239" name="Freeform 38"/>
            <p:cNvSpPr/>
            <p:nvPr/>
          </p:nvSpPr>
          <p:spPr>
            <a:xfrm>
              <a:off x="977760" y="70930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40" name="TextBox 39"/>
            <p:cNvSpPr/>
            <p:nvPr/>
          </p:nvSpPr>
          <p:spPr>
            <a:xfrm>
              <a:off x="1025280" y="71262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8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41" name="Group 40"/>
          <p:cNvGrpSpPr/>
          <p:nvPr/>
        </p:nvGrpSpPr>
        <p:grpSpPr>
          <a:xfrm>
            <a:off x="977760" y="7760880"/>
            <a:ext cx="507600" cy="543240"/>
            <a:chOff x="977760" y="7760880"/>
            <a:chExt cx="507600" cy="543240"/>
          </a:xfrm>
        </p:grpSpPr>
        <p:sp>
          <p:nvSpPr>
            <p:cNvPr id="242" name="Freeform 41"/>
            <p:cNvSpPr/>
            <p:nvPr/>
          </p:nvSpPr>
          <p:spPr>
            <a:xfrm>
              <a:off x="97776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43" name="TextBox 42"/>
            <p:cNvSpPr/>
            <p:nvPr/>
          </p:nvSpPr>
          <p:spPr>
            <a:xfrm>
              <a:off x="102528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44" name="Freeform 10"/>
          <p:cNvSpPr/>
          <p:nvPr/>
        </p:nvSpPr>
        <p:spPr>
          <a:xfrm>
            <a:off x="16313400" y="91044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5" name="TextBox 46"/>
          <p:cNvSpPr/>
          <p:nvPr/>
        </p:nvSpPr>
        <p:spPr>
          <a:xfrm>
            <a:off x="190440" y="316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WORKFLOW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6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410080" y="1146960"/>
            <a:ext cx="7387920" cy="8754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roup 19"/>
          <p:cNvGrpSpPr/>
          <p:nvPr/>
        </p:nvGrpSpPr>
        <p:grpSpPr>
          <a:xfrm>
            <a:off x="735480" y="5977080"/>
            <a:ext cx="991800" cy="991800"/>
            <a:chOff x="735480" y="5977080"/>
            <a:chExt cx="991800" cy="991800"/>
          </a:xfrm>
        </p:grpSpPr>
        <p:sp>
          <p:nvSpPr>
            <p:cNvPr id="248" name="Freeform 20"/>
            <p:cNvSpPr/>
            <p:nvPr/>
          </p:nvSpPr>
          <p:spPr>
            <a:xfrm>
              <a:off x="735480" y="597708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49" name="TextBox 21"/>
            <p:cNvSpPr/>
            <p:nvPr/>
          </p:nvSpPr>
          <p:spPr>
            <a:xfrm>
              <a:off x="828720" y="600012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700" b="0" strike="noStrike" spc="-1">
                  <a:solidFill>
                    <a:srgbClr val="FFFEFE"/>
                  </a:solidFill>
                  <a:latin typeface="Gotham"/>
                  <a:ea typeface="Gotham"/>
                </a:rPr>
                <a:t>7</a:t>
              </a:r>
              <a:endParaRPr lang="en-US" sz="2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50" name="Group 22"/>
          <p:cNvGrpSpPr/>
          <p:nvPr/>
        </p:nvGrpSpPr>
        <p:grpSpPr>
          <a:xfrm>
            <a:off x="977760" y="3315600"/>
            <a:ext cx="507600" cy="543240"/>
            <a:chOff x="977760" y="3315600"/>
            <a:chExt cx="507600" cy="543240"/>
          </a:xfrm>
        </p:grpSpPr>
        <p:sp>
          <p:nvSpPr>
            <p:cNvPr id="251" name="Freeform 23"/>
            <p:cNvSpPr/>
            <p:nvPr/>
          </p:nvSpPr>
          <p:spPr>
            <a:xfrm>
              <a:off x="977760" y="33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52" name="TextBox 24"/>
            <p:cNvSpPr/>
            <p:nvPr/>
          </p:nvSpPr>
          <p:spPr>
            <a:xfrm>
              <a:off x="1025280" y="33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53" name="Group 25"/>
          <p:cNvGrpSpPr/>
          <p:nvPr/>
        </p:nvGrpSpPr>
        <p:grpSpPr>
          <a:xfrm>
            <a:off x="977760" y="1982520"/>
            <a:ext cx="507600" cy="543240"/>
            <a:chOff x="977760" y="1982520"/>
            <a:chExt cx="507600" cy="543240"/>
          </a:xfrm>
        </p:grpSpPr>
        <p:sp>
          <p:nvSpPr>
            <p:cNvPr id="254" name="Freeform 26"/>
            <p:cNvSpPr/>
            <p:nvPr/>
          </p:nvSpPr>
          <p:spPr>
            <a:xfrm>
              <a:off x="97776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55" name="TextBox 27"/>
            <p:cNvSpPr/>
            <p:nvPr/>
          </p:nvSpPr>
          <p:spPr>
            <a:xfrm>
              <a:off x="102528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56" name="Group 28"/>
          <p:cNvGrpSpPr/>
          <p:nvPr/>
        </p:nvGrpSpPr>
        <p:grpSpPr>
          <a:xfrm>
            <a:off x="977760" y="3983400"/>
            <a:ext cx="507600" cy="543240"/>
            <a:chOff x="977760" y="3983400"/>
            <a:chExt cx="507600" cy="543240"/>
          </a:xfrm>
        </p:grpSpPr>
        <p:sp>
          <p:nvSpPr>
            <p:cNvPr id="257" name="Freeform 29"/>
            <p:cNvSpPr/>
            <p:nvPr/>
          </p:nvSpPr>
          <p:spPr>
            <a:xfrm>
              <a:off x="977760" y="3983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58" name="TextBox 30"/>
            <p:cNvSpPr/>
            <p:nvPr/>
          </p:nvSpPr>
          <p:spPr>
            <a:xfrm>
              <a:off x="1025280" y="4016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59" name="Group 31"/>
          <p:cNvGrpSpPr/>
          <p:nvPr/>
        </p:nvGrpSpPr>
        <p:grpSpPr>
          <a:xfrm>
            <a:off x="977760" y="2648160"/>
            <a:ext cx="507600" cy="543240"/>
            <a:chOff x="977760" y="2648160"/>
            <a:chExt cx="507600" cy="543240"/>
          </a:xfrm>
        </p:grpSpPr>
        <p:sp>
          <p:nvSpPr>
            <p:cNvPr id="260" name="Freeform 32"/>
            <p:cNvSpPr/>
            <p:nvPr/>
          </p:nvSpPr>
          <p:spPr>
            <a:xfrm>
              <a:off x="97776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61" name="TextBox 33"/>
            <p:cNvSpPr/>
            <p:nvPr/>
          </p:nvSpPr>
          <p:spPr>
            <a:xfrm>
              <a:off x="102528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62" name="Group 34"/>
          <p:cNvGrpSpPr/>
          <p:nvPr/>
        </p:nvGrpSpPr>
        <p:grpSpPr>
          <a:xfrm>
            <a:off x="977760" y="5318640"/>
            <a:ext cx="507600" cy="543240"/>
            <a:chOff x="977760" y="5318640"/>
            <a:chExt cx="507600" cy="543240"/>
          </a:xfrm>
        </p:grpSpPr>
        <p:sp>
          <p:nvSpPr>
            <p:cNvPr id="263" name="Freeform 35"/>
            <p:cNvSpPr/>
            <p:nvPr/>
          </p:nvSpPr>
          <p:spPr>
            <a:xfrm>
              <a:off x="977760" y="5318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64" name="TextBox 36"/>
            <p:cNvSpPr/>
            <p:nvPr/>
          </p:nvSpPr>
          <p:spPr>
            <a:xfrm>
              <a:off x="1025280" y="5351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65" name="Group 37"/>
          <p:cNvGrpSpPr/>
          <p:nvPr/>
        </p:nvGrpSpPr>
        <p:grpSpPr>
          <a:xfrm>
            <a:off x="977760" y="4650840"/>
            <a:ext cx="507600" cy="543240"/>
            <a:chOff x="977760" y="4650840"/>
            <a:chExt cx="507600" cy="543240"/>
          </a:xfrm>
        </p:grpSpPr>
        <p:sp>
          <p:nvSpPr>
            <p:cNvPr id="266" name="Freeform 38"/>
            <p:cNvSpPr/>
            <p:nvPr/>
          </p:nvSpPr>
          <p:spPr>
            <a:xfrm>
              <a:off x="977760" y="4650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67" name="TextBox 39"/>
            <p:cNvSpPr/>
            <p:nvPr/>
          </p:nvSpPr>
          <p:spPr>
            <a:xfrm>
              <a:off x="1025280" y="4683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68" name="Group 40"/>
          <p:cNvGrpSpPr/>
          <p:nvPr/>
        </p:nvGrpSpPr>
        <p:grpSpPr>
          <a:xfrm>
            <a:off x="977760" y="7093080"/>
            <a:ext cx="507600" cy="543240"/>
            <a:chOff x="977760" y="7093080"/>
            <a:chExt cx="507600" cy="543240"/>
          </a:xfrm>
        </p:grpSpPr>
        <p:sp>
          <p:nvSpPr>
            <p:cNvPr id="269" name="Freeform 41"/>
            <p:cNvSpPr/>
            <p:nvPr/>
          </p:nvSpPr>
          <p:spPr>
            <a:xfrm>
              <a:off x="977760" y="70930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70" name="TextBox 42"/>
            <p:cNvSpPr/>
            <p:nvPr/>
          </p:nvSpPr>
          <p:spPr>
            <a:xfrm>
              <a:off x="1025280" y="71262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8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71" name="Group 43"/>
          <p:cNvGrpSpPr/>
          <p:nvPr/>
        </p:nvGrpSpPr>
        <p:grpSpPr>
          <a:xfrm>
            <a:off x="977760" y="7760880"/>
            <a:ext cx="507600" cy="543240"/>
            <a:chOff x="977760" y="7760880"/>
            <a:chExt cx="507600" cy="543240"/>
          </a:xfrm>
        </p:grpSpPr>
        <p:sp>
          <p:nvSpPr>
            <p:cNvPr id="272" name="Freeform 44"/>
            <p:cNvSpPr/>
            <p:nvPr/>
          </p:nvSpPr>
          <p:spPr>
            <a:xfrm>
              <a:off x="97776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73" name="TextBox 45"/>
            <p:cNvSpPr/>
            <p:nvPr/>
          </p:nvSpPr>
          <p:spPr>
            <a:xfrm>
              <a:off x="102528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74" name="Freeform 10"/>
          <p:cNvSpPr/>
          <p:nvPr/>
        </p:nvSpPr>
        <p:spPr>
          <a:xfrm>
            <a:off x="16313400" y="91044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5" name="TextBox 46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TECHNOLOGIES USED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6" name="TextBox 47"/>
          <p:cNvSpPr/>
          <p:nvPr/>
        </p:nvSpPr>
        <p:spPr>
          <a:xfrm>
            <a:off x="2209680" y="1638360"/>
            <a:ext cx="15081480" cy="999934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Frontend: HTML5, CSS3, JavaScript (ES6), and Thymeleaf templates. 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Backend: Spring Boot 3.2.4, Spring MVC, Spring Security, and Spring Data JPA. 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Database: </a:t>
            </a:r>
            <a:r>
              <a:rPr lang="en-GB" altLang="en-US" sz="2800" b="0" strike="noStrike" spc="-1">
                <a:solidFill>
                  <a:schemeClr val="dk1"/>
                </a:solidFill>
                <a:latin typeface="Calibri" panose="020F0502020204030204"/>
              </a:rPr>
              <a:t>MongoDB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Tools: Maven, MySQL Workbench, and VS Code/IntelliJ IDEA. 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Hardware/Software Requirements: 4GB RAM, 10GB disk space, Java 17, and a modern web browser.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roup 7"/>
          <p:cNvGrpSpPr/>
          <p:nvPr/>
        </p:nvGrpSpPr>
        <p:grpSpPr>
          <a:xfrm>
            <a:off x="735480" y="6653880"/>
            <a:ext cx="991800" cy="991800"/>
            <a:chOff x="735480" y="6653880"/>
            <a:chExt cx="991800" cy="991800"/>
          </a:xfrm>
        </p:grpSpPr>
        <p:sp>
          <p:nvSpPr>
            <p:cNvPr id="278" name="Freeform 8"/>
            <p:cNvSpPr/>
            <p:nvPr/>
          </p:nvSpPr>
          <p:spPr>
            <a:xfrm>
              <a:off x="735480" y="665388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79" name="TextBox 9"/>
            <p:cNvSpPr/>
            <p:nvPr/>
          </p:nvSpPr>
          <p:spPr>
            <a:xfrm>
              <a:off x="828720" y="667728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700" b="0" strike="noStrike" spc="-1">
                  <a:solidFill>
                    <a:srgbClr val="FFFEFE"/>
                  </a:solidFill>
                  <a:latin typeface="Gotham"/>
                  <a:ea typeface="Gotham"/>
                </a:rPr>
                <a:t>8</a:t>
              </a:r>
              <a:endParaRPr lang="en-US" sz="2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80" name="Group 10"/>
          <p:cNvGrpSpPr/>
          <p:nvPr/>
        </p:nvGrpSpPr>
        <p:grpSpPr>
          <a:xfrm>
            <a:off x="977760" y="3315600"/>
            <a:ext cx="507600" cy="543240"/>
            <a:chOff x="977760" y="3315600"/>
            <a:chExt cx="507600" cy="543240"/>
          </a:xfrm>
        </p:grpSpPr>
        <p:sp>
          <p:nvSpPr>
            <p:cNvPr id="281" name="Freeform 11"/>
            <p:cNvSpPr/>
            <p:nvPr/>
          </p:nvSpPr>
          <p:spPr>
            <a:xfrm>
              <a:off x="977760" y="33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82" name="TextBox 12"/>
            <p:cNvSpPr/>
            <p:nvPr/>
          </p:nvSpPr>
          <p:spPr>
            <a:xfrm>
              <a:off x="1025280" y="33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83" name="Group 13"/>
          <p:cNvGrpSpPr/>
          <p:nvPr/>
        </p:nvGrpSpPr>
        <p:grpSpPr>
          <a:xfrm>
            <a:off x="977760" y="1982520"/>
            <a:ext cx="507600" cy="543240"/>
            <a:chOff x="977760" y="1982520"/>
            <a:chExt cx="507600" cy="543240"/>
          </a:xfrm>
        </p:grpSpPr>
        <p:sp>
          <p:nvSpPr>
            <p:cNvPr id="284" name="Freeform 14"/>
            <p:cNvSpPr/>
            <p:nvPr/>
          </p:nvSpPr>
          <p:spPr>
            <a:xfrm>
              <a:off x="97776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85" name="TextBox 15"/>
            <p:cNvSpPr/>
            <p:nvPr/>
          </p:nvSpPr>
          <p:spPr>
            <a:xfrm>
              <a:off x="102528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86" name="Group 16"/>
          <p:cNvGrpSpPr/>
          <p:nvPr/>
        </p:nvGrpSpPr>
        <p:grpSpPr>
          <a:xfrm>
            <a:off x="977760" y="3983400"/>
            <a:ext cx="507600" cy="543240"/>
            <a:chOff x="977760" y="3983400"/>
            <a:chExt cx="507600" cy="543240"/>
          </a:xfrm>
        </p:grpSpPr>
        <p:sp>
          <p:nvSpPr>
            <p:cNvPr id="287" name="Freeform 17"/>
            <p:cNvSpPr/>
            <p:nvPr/>
          </p:nvSpPr>
          <p:spPr>
            <a:xfrm>
              <a:off x="977760" y="3983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88" name="TextBox 18"/>
            <p:cNvSpPr/>
            <p:nvPr/>
          </p:nvSpPr>
          <p:spPr>
            <a:xfrm>
              <a:off x="1025280" y="4016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89" name="Group 19"/>
          <p:cNvGrpSpPr/>
          <p:nvPr/>
        </p:nvGrpSpPr>
        <p:grpSpPr>
          <a:xfrm>
            <a:off x="977760" y="2648160"/>
            <a:ext cx="507600" cy="543240"/>
            <a:chOff x="977760" y="2648160"/>
            <a:chExt cx="507600" cy="543240"/>
          </a:xfrm>
        </p:grpSpPr>
        <p:sp>
          <p:nvSpPr>
            <p:cNvPr id="290" name="Freeform 20"/>
            <p:cNvSpPr/>
            <p:nvPr/>
          </p:nvSpPr>
          <p:spPr>
            <a:xfrm>
              <a:off x="97776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91" name="TextBox 21"/>
            <p:cNvSpPr/>
            <p:nvPr/>
          </p:nvSpPr>
          <p:spPr>
            <a:xfrm>
              <a:off x="102528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92" name="Group 22"/>
          <p:cNvGrpSpPr/>
          <p:nvPr/>
        </p:nvGrpSpPr>
        <p:grpSpPr>
          <a:xfrm>
            <a:off x="977760" y="5318640"/>
            <a:ext cx="507600" cy="543240"/>
            <a:chOff x="977760" y="5318640"/>
            <a:chExt cx="507600" cy="543240"/>
          </a:xfrm>
        </p:grpSpPr>
        <p:sp>
          <p:nvSpPr>
            <p:cNvPr id="293" name="Freeform 23"/>
            <p:cNvSpPr/>
            <p:nvPr/>
          </p:nvSpPr>
          <p:spPr>
            <a:xfrm>
              <a:off x="977760" y="5318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94" name="TextBox 24"/>
            <p:cNvSpPr/>
            <p:nvPr/>
          </p:nvSpPr>
          <p:spPr>
            <a:xfrm>
              <a:off x="1025280" y="5351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95" name="Group 25"/>
          <p:cNvGrpSpPr/>
          <p:nvPr/>
        </p:nvGrpSpPr>
        <p:grpSpPr>
          <a:xfrm>
            <a:off x="977760" y="4650840"/>
            <a:ext cx="507600" cy="543240"/>
            <a:chOff x="977760" y="4650840"/>
            <a:chExt cx="507600" cy="543240"/>
          </a:xfrm>
        </p:grpSpPr>
        <p:sp>
          <p:nvSpPr>
            <p:cNvPr id="296" name="Freeform 26"/>
            <p:cNvSpPr/>
            <p:nvPr/>
          </p:nvSpPr>
          <p:spPr>
            <a:xfrm>
              <a:off x="977760" y="4650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97" name="TextBox 27"/>
            <p:cNvSpPr/>
            <p:nvPr/>
          </p:nvSpPr>
          <p:spPr>
            <a:xfrm>
              <a:off x="1025280" y="4683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298" name="Group 28"/>
          <p:cNvGrpSpPr/>
          <p:nvPr/>
        </p:nvGrpSpPr>
        <p:grpSpPr>
          <a:xfrm>
            <a:off x="977760" y="5986440"/>
            <a:ext cx="507600" cy="543240"/>
            <a:chOff x="977760" y="5986440"/>
            <a:chExt cx="507600" cy="543240"/>
          </a:xfrm>
        </p:grpSpPr>
        <p:sp>
          <p:nvSpPr>
            <p:cNvPr id="299" name="Freeform 29"/>
            <p:cNvSpPr/>
            <p:nvPr/>
          </p:nvSpPr>
          <p:spPr>
            <a:xfrm>
              <a:off x="977760" y="59864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00" name="TextBox 30"/>
            <p:cNvSpPr/>
            <p:nvPr/>
          </p:nvSpPr>
          <p:spPr>
            <a:xfrm>
              <a:off x="1025280" y="60195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01" name="Group 31"/>
          <p:cNvGrpSpPr/>
          <p:nvPr/>
        </p:nvGrpSpPr>
        <p:grpSpPr>
          <a:xfrm>
            <a:off x="977760" y="7760880"/>
            <a:ext cx="507600" cy="543240"/>
            <a:chOff x="977760" y="7760880"/>
            <a:chExt cx="507600" cy="543240"/>
          </a:xfrm>
        </p:grpSpPr>
        <p:sp>
          <p:nvSpPr>
            <p:cNvPr id="302" name="Freeform 32"/>
            <p:cNvSpPr/>
            <p:nvPr/>
          </p:nvSpPr>
          <p:spPr>
            <a:xfrm>
              <a:off x="97776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03" name="TextBox 33"/>
            <p:cNvSpPr/>
            <p:nvPr/>
          </p:nvSpPr>
          <p:spPr>
            <a:xfrm>
              <a:off x="102528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304" name="Freeform 34"/>
          <p:cNvSpPr/>
          <p:nvPr/>
        </p:nvSpPr>
        <p:spPr>
          <a:xfrm>
            <a:off x="16313400" y="102888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8" name="TextBox 42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MODULE DESCRIPTION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9" name="TextBox 43"/>
          <p:cNvSpPr/>
          <p:nvPr/>
        </p:nvSpPr>
        <p:spPr>
          <a:xfrm>
            <a:off x="2209680" y="1638360"/>
            <a:ext cx="15081480" cy="990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strike="noStrike" spc="-1">
                <a:solidFill>
                  <a:schemeClr val="dk1"/>
                </a:solidFill>
                <a:latin typeface="Calibri" panose="020F0502020204030204"/>
              </a:rPr>
              <a:t>User Management:</a:t>
            </a: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 Handles registration, login, and role assignment (Student/Employer) via Spring Security.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strike="noStrike" spc="-1">
                <a:solidFill>
                  <a:schemeClr val="dk1"/>
                </a:solidFill>
                <a:latin typeface="Calibri" panose="020F0502020204030204"/>
              </a:rPr>
              <a:t>Job Management:</a:t>
            </a: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 Enables employers to manage job postings and students to search using multiple filters.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strike="noStrike" spc="-1">
                <a:solidFill>
                  <a:schemeClr val="dk1"/>
                </a:solidFill>
                <a:latin typeface="Calibri" panose="020F0502020204030204"/>
              </a:rPr>
              <a:t>Application Module:</a:t>
            </a: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 Facilitates the application process and tracks status (Pending, Shortlisted, Rejected).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strike="noStrike" spc="-1">
                <a:solidFill>
                  <a:schemeClr val="dk1"/>
                </a:solidFill>
                <a:latin typeface="Calibri" panose="020F0502020204030204"/>
              </a:rPr>
              <a:t>Resume Management:</a:t>
            </a: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 Manages secure local storage for student uploads and employer downloads.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strike="noStrike" spc="-1">
                <a:solidFill>
                  <a:schemeClr val="dk1"/>
                </a:solidFill>
                <a:latin typeface="Calibri" panose="020F0502020204030204"/>
              </a:rPr>
              <a:t>Analytics Module:</a:t>
            </a:r>
            <a:r>
              <a:rPr lang="en-US" sz="2800" b="0" strike="noStrike" spc="-1">
                <a:solidFill>
                  <a:schemeClr val="dk1"/>
                </a:solidFill>
                <a:latin typeface="Calibri" panose="020F0502020204030204"/>
              </a:rPr>
              <a:t> Provides visual hiring statistics and application history on user dashboards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roup 7"/>
          <p:cNvGrpSpPr/>
          <p:nvPr/>
        </p:nvGrpSpPr>
        <p:grpSpPr>
          <a:xfrm>
            <a:off x="735480" y="6653880"/>
            <a:ext cx="991800" cy="991800"/>
            <a:chOff x="735480" y="6653880"/>
            <a:chExt cx="991800" cy="991800"/>
          </a:xfrm>
        </p:grpSpPr>
        <p:sp>
          <p:nvSpPr>
            <p:cNvPr id="311" name="Freeform 8"/>
            <p:cNvSpPr/>
            <p:nvPr/>
          </p:nvSpPr>
          <p:spPr>
            <a:xfrm>
              <a:off x="735480" y="665388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12" name="TextBox 9"/>
            <p:cNvSpPr/>
            <p:nvPr/>
          </p:nvSpPr>
          <p:spPr>
            <a:xfrm>
              <a:off x="828720" y="667728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400" b="1" strike="noStrike" spc="-1">
                  <a:solidFill>
                    <a:srgbClr val="002060"/>
                  </a:solidFill>
                  <a:latin typeface="Gotham"/>
                  <a:ea typeface="Gotham"/>
                </a:rPr>
                <a:t>8</a:t>
              </a:r>
              <a:endParaRPr lang="en-US" sz="24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13" name="Group 10"/>
          <p:cNvGrpSpPr/>
          <p:nvPr/>
        </p:nvGrpSpPr>
        <p:grpSpPr>
          <a:xfrm>
            <a:off x="977760" y="3315600"/>
            <a:ext cx="507600" cy="543240"/>
            <a:chOff x="977760" y="3315600"/>
            <a:chExt cx="507600" cy="543240"/>
          </a:xfrm>
        </p:grpSpPr>
        <p:sp>
          <p:nvSpPr>
            <p:cNvPr id="314" name="Freeform 11"/>
            <p:cNvSpPr/>
            <p:nvPr/>
          </p:nvSpPr>
          <p:spPr>
            <a:xfrm>
              <a:off x="977760" y="33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15" name="TextBox 12"/>
            <p:cNvSpPr/>
            <p:nvPr/>
          </p:nvSpPr>
          <p:spPr>
            <a:xfrm>
              <a:off x="1025280" y="33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16" name="Group 13"/>
          <p:cNvGrpSpPr/>
          <p:nvPr/>
        </p:nvGrpSpPr>
        <p:grpSpPr>
          <a:xfrm>
            <a:off x="977760" y="1982520"/>
            <a:ext cx="507600" cy="543240"/>
            <a:chOff x="977760" y="1982520"/>
            <a:chExt cx="507600" cy="543240"/>
          </a:xfrm>
        </p:grpSpPr>
        <p:sp>
          <p:nvSpPr>
            <p:cNvPr id="317" name="Freeform 14"/>
            <p:cNvSpPr/>
            <p:nvPr/>
          </p:nvSpPr>
          <p:spPr>
            <a:xfrm>
              <a:off x="97776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18" name="TextBox 15"/>
            <p:cNvSpPr/>
            <p:nvPr/>
          </p:nvSpPr>
          <p:spPr>
            <a:xfrm>
              <a:off x="102528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19" name="Group 16"/>
          <p:cNvGrpSpPr/>
          <p:nvPr/>
        </p:nvGrpSpPr>
        <p:grpSpPr>
          <a:xfrm>
            <a:off x="977760" y="3983400"/>
            <a:ext cx="507600" cy="543240"/>
            <a:chOff x="977760" y="3983400"/>
            <a:chExt cx="507600" cy="543240"/>
          </a:xfrm>
        </p:grpSpPr>
        <p:sp>
          <p:nvSpPr>
            <p:cNvPr id="320" name="Freeform 17"/>
            <p:cNvSpPr/>
            <p:nvPr/>
          </p:nvSpPr>
          <p:spPr>
            <a:xfrm>
              <a:off x="977760" y="3983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21" name="TextBox 18"/>
            <p:cNvSpPr/>
            <p:nvPr/>
          </p:nvSpPr>
          <p:spPr>
            <a:xfrm>
              <a:off x="1025280" y="4016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22" name="Group 19"/>
          <p:cNvGrpSpPr/>
          <p:nvPr/>
        </p:nvGrpSpPr>
        <p:grpSpPr>
          <a:xfrm>
            <a:off x="977760" y="2648160"/>
            <a:ext cx="507600" cy="543240"/>
            <a:chOff x="977760" y="2648160"/>
            <a:chExt cx="507600" cy="543240"/>
          </a:xfrm>
        </p:grpSpPr>
        <p:sp>
          <p:nvSpPr>
            <p:cNvPr id="323" name="Freeform 20"/>
            <p:cNvSpPr/>
            <p:nvPr/>
          </p:nvSpPr>
          <p:spPr>
            <a:xfrm>
              <a:off x="97776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24" name="TextBox 21"/>
            <p:cNvSpPr/>
            <p:nvPr/>
          </p:nvSpPr>
          <p:spPr>
            <a:xfrm>
              <a:off x="102528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25" name="Group 22"/>
          <p:cNvGrpSpPr/>
          <p:nvPr/>
        </p:nvGrpSpPr>
        <p:grpSpPr>
          <a:xfrm>
            <a:off x="977760" y="5318640"/>
            <a:ext cx="507600" cy="543240"/>
            <a:chOff x="977760" y="5318640"/>
            <a:chExt cx="507600" cy="543240"/>
          </a:xfrm>
        </p:grpSpPr>
        <p:sp>
          <p:nvSpPr>
            <p:cNvPr id="326" name="Freeform 23"/>
            <p:cNvSpPr/>
            <p:nvPr/>
          </p:nvSpPr>
          <p:spPr>
            <a:xfrm>
              <a:off x="977760" y="5318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27" name="TextBox 24"/>
            <p:cNvSpPr/>
            <p:nvPr/>
          </p:nvSpPr>
          <p:spPr>
            <a:xfrm>
              <a:off x="1025280" y="5351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28" name="Group 25"/>
          <p:cNvGrpSpPr/>
          <p:nvPr/>
        </p:nvGrpSpPr>
        <p:grpSpPr>
          <a:xfrm>
            <a:off x="977760" y="4650840"/>
            <a:ext cx="507600" cy="543240"/>
            <a:chOff x="977760" y="4650840"/>
            <a:chExt cx="507600" cy="543240"/>
          </a:xfrm>
        </p:grpSpPr>
        <p:sp>
          <p:nvSpPr>
            <p:cNvPr id="329" name="Freeform 26"/>
            <p:cNvSpPr/>
            <p:nvPr/>
          </p:nvSpPr>
          <p:spPr>
            <a:xfrm>
              <a:off x="977760" y="4650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30" name="TextBox 27"/>
            <p:cNvSpPr/>
            <p:nvPr/>
          </p:nvSpPr>
          <p:spPr>
            <a:xfrm>
              <a:off x="1025280" y="4683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31" name="Group 28"/>
          <p:cNvGrpSpPr/>
          <p:nvPr/>
        </p:nvGrpSpPr>
        <p:grpSpPr>
          <a:xfrm>
            <a:off x="977760" y="5986440"/>
            <a:ext cx="507600" cy="543240"/>
            <a:chOff x="977760" y="5986440"/>
            <a:chExt cx="507600" cy="543240"/>
          </a:xfrm>
        </p:grpSpPr>
        <p:sp>
          <p:nvSpPr>
            <p:cNvPr id="332" name="Freeform 29"/>
            <p:cNvSpPr/>
            <p:nvPr/>
          </p:nvSpPr>
          <p:spPr>
            <a:xfrm>
              <a:off x="977760" y="59864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33" name="TextBox 30"/>
            <p:cNvSpPr/>
            <p:nvPr/>
          </p:nvSpPr>
          <p:spPr>
            <a:xfrm>
              <a:off x="1025280" y="60195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34" name="Group 31"/>
          <p:cNvGrpSpPr/>
          <p:nvPr/>
        </p:nvGrpSpPr>
        <p:grpSpPr>
          <a:xfrm>
            <a:off x="977760" y="7760880"/>
            <a:ext cx="507600" cy="543240"/>
            <a:chOff x="977760" y="7760880"/>
            <a:chExt cx="507600" cy="543240"/>
          </a:xfrm>
        </p:grpSpPr>
        <p:sp>
          <p:nvSpPr>
            <p:cNvPr id="335" name="Freeform 32"/>
            <p:cNvSpPr/>
            <p:nvPr/>
          </p:nvSpPr>
          <p:spPr>
            <a:xfrm>
              <a:off x="97776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36" name="TextBox 33"/>
            <p:cNvSpPr/>
            <p:nvPr/>
          </p:nvSpPr>
          <p:spPr>
            <a:xfrm>
              <a:off x="102528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337" name="Freeform 34"/>
          <p:cNvSpPr/>
          <p:nvPr/>
        </p:nvSpPr>
        <p:spPr>
          <a:xfrm>
            <a:off x="16313400" y="102888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1" name="TextBox 42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IMPLEMENTATION SCREENSHOTS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2" name="TextBox 43"/>
          <p:cNvSpPr/>
          <p:nvPr/>
        </p:nvSpPr>
        <p:spPr>
          <a:xfrm>
            <a:off x="2209680" y="1638360"/>
            <a:ext cx="15081480" cy="5640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4" name="TextBox 4"/>
          <p:cNvSpPr/>
          <p:nvPr/>
        </p:nvSpPr>
        <p:spPr>
          <a:xfrm>
            <a:off x="4075920" y="8035920"/>
            <a:ext cx="14211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</a:rPr>
              <a:t>Home Page:</a:t>
            </a:r>
            <a:r>
              <a:rPr lang="en-US" sz="1800" b="0" strike="noStrike" spc="-1">
                <a:solidFill>
                  <a:schemeClr val="dk1"/>
                </a:solidFill>
                <a:latin typeface="Calibri" panose="020F0502020204030204"/>
              </a:rPr>
              <a:t> Features the "Architectural Engine" design with a Blueprint Blue hero section and navigation bar.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50" y="1447800"/>
            <a:ext cx="13710285" cy="6297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roup 7"/>
          <p:cNvGrpSpPr/>
          <p:nvPr/>
        </p:nvGrpSpPr>
        <p:grpSpPr>
          <a:xfrm>
            <a:off x="735480" y="6653880"/>
            <a:ext cx="991800" cy="991800"/>
            <a:chOff x="735480" y="6653880"/>
            <a:chExt cx="991800" cy="991800"/>
          </a:xfrm>
        </p:grpSpPr>
        <p:sp>
          <p:nvSpPr>
            <p:cNvPr id="346" name="Freeform 8"/>
            <p:cNvSpPr/>
            <p:nvPr/>
          </p:nvSpPr>
          <p:spPr>
            <a:xfrm>
              <a:off x="735480" y="665388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47" name="TextBox 9"/>
            <p:cNvSpPr/>
            <p:nvPr/>
          </p:nvSpPr>
          <p:spPr>
            <a:xfrm>
              <a:off x="828720" y="667728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400" b="1" strike="noStrike" spc="-1">
                  <a:solidFill>
                    <a:srgbClr val="002060"/>
                  </a:solidFill>
                  <a:latin typeface="Gotham"/>
                  <a:ea typeface="Gotham"/>
                </a:rPr>
                <a:t>8(A)</a:t>
              </a:r>
              <a:endParaRPr lang="en-US" sz="24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48" name="Group 10"/>
          <p:cNvGrpSpPr/>
          <p:nvPr/>
        </p:nvGrpSpPr>
        <p:grpSpPr>
          <a:xfrm>
            <a:off x="977760" y="3315600"/>
            <a:ext cx="507600" cy="543240"/>
            <a:chOff x="977760" y="3315600"/>
            <a:chExt cx="507600" cy="543240"/>
          </a:xfrm>
        </p:grpSpPr>
        <p:sp>
          <p:nvSpPr>
            <p:cNvPr id="349" name="Freeform 11"/>
            <p:cNvSpPr/>
            <p:nvPr/>
          </p:nvSpPr>
          <p:spPr>
            <a:xfrm>
              <a:off x="977760" y="33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50" name="TextBox 12"/>
            <p:cNvSpPr/>
            <p:nvPr/>
          </p:nvSpPr>
          <p:spPr>
            <a:xfrm>
              <a:off x="1025280" y="33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51" name="Group 13"/>
          <p:cNvGrpSpPr/>
          <p:nvPr/>
        </p:nvGrpSpPr>
        <p:grpSpPr>
          <a:xfrm>
            <a:off x="977760" y="1982520"/>
            <a:ext cx="507600" cy="543240"/>
            <a:chOff x="977760" y="1982520"/>
            <a:chExt cx="507600" cy="543240"/>
          </a:xfrm>
        </p:grpSpPr>
        <p:sp>
          <p:nvSpPr>
            <p:cNvPr id="352" name="Freeform 14"/>
            <p:cNvSpPr/>
            <p:nvPr/>
          </p:nvSpPr>
          <p:spPr>
            <a:xfrm>
              <a:off x="97776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53" name="TextBox 15"/>
            <p:cNvSpPr/>
            <p:nvPr/>
          </p:nvSpPr>
          <p:spPr>
            <a:xfrm>
              <a:off x="102528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54" name="Group 16"/>
          <p:cNvGrpSpPr/>
          <p:nvPr/>
        </p:nvGrpSpPr>
        <p:grpSpPr>
          <a:xfrm>
            <a:off x="977760" y="3983400"/>
            <a:ext cx="507600" cy="543240"/>
            <a:chOff x="977760" y="3983400"/>
            <a:chExt cx="507600" cy="543240"/>
          </a:xfrm>
        </p:grpSpPr>
        <p:sp>
          <p:nvSpPr>
            <p:cNvPr id="355" name="Freeform 17"/>
            <p:cNvSpPr/>
            <p:nvPr/>
          </p:nvSpPr>
          <p:spPr>
            <a:xfrm>
              <a:off x="977760" y="3983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56" name="TextBox 18"/>
            <p:cNvSpPr/>
            <p:nvPr/>
          </p:nvSpPr>
          <p:spPr>
            <a:xfrm>
              <a:off x="1025280" y="4016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57" name="Group 19"/>
          <p:cNvGrpSpPr/>
          <p:nvPr/>
        </p:nvGrpSpPr>
        <p:grpSpPr>
          <a:xfrm>
            <a:off x="977760" y="2648160"/>
            <a:ext cx="507600" cy="543240"/>
            <a:chOff x="977760" y="2648160"/>
            <a:chExt cx="507600" cy="543240"/>
          </a:xfrm>
        </p:grpSpPr>
        <p:sp>
          <p:nvSpPr>
            <p:cNvPr id="358" name="Freeform 20"/>
            <p:cNvSpPr/>
            <p:nvPr/>
          </p:nvSpPr>
          <p:spPr>
            <a:xfrm>
              <a:off x="97776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59" name="TextBox 21"/>
            <p:cNvSpPr/>
            <p:nvPr/>
          </p:nvSpPr>
          <p:spPr>
            <a:xfrm>
              <a:off x="102528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60" name="Group 22"/>
          <p:cNvGrpSpPr/>
          <p:nvPr/>
        </p:nvGrpSpPr>
        <p:grpSpPr>
          <a:xfrm>
            <a:off x="977760" y="5318640"/>
            <a:ext cx="507600" cy="543240"/>
            <a:chOff x="977760" y="5318640"/>
            <a:chExt cx="507600" cy="543240"/>
          </a:xfrm>
        </p:grpSpPr>
        <p:sp>
          <p:nvSpPr>
            <p:cNvPr id="361" name="Freeform 23"/>
            <p:cNvSpPr/>
            <p:nvPr/>
          </p:nvSpPr>
          <p:spPr>
            <a:xfrm>
              <a:off x="977760" y="5318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62" name="TextBox 24"/>
            <p:cNvSpPr/>
            <p:nvPr/>
          </p:nvSpPr>
          <p:spPr>
            <a:xfrm>
              <a:off x="1025280" y="5351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63" name="Group 25"/>
          <p:cNvGrpSpPr/>
          <p:nvPr/>
        </p:nvGrpSpPr>
        <p:grpSpPr>
          <a:xfrm>
            <a:off x="977760" y="4650840"/>
            <a:ext cx="507600" cy="543240"/>
            <a:chOff x="977760" y="4650840"/>
            <a:chExt cx="507600" cy="543240"/>
          </a:xfrm>
        </p:grpSpPr>
        <p:sp>
          <p:nvSpPr>
            <p:cNvPr id="364" name="Freeform 26"/>
            <p:cNvSpPr/>
            <p:nvPr/>
          </p:nvSpPr>
          <p:spPr>
            <a:xfrm>
              <a:off x="977760" y="4650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65" name="TextBox 27"/>
            <p:cNvSpPr/>
            <p:nvPr/>
          </p:nvSpPr>
          <p:spPr>
            <a:xfrm>
              <a:off x="1025280" y="4683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66" name="Group 28"/>
          <p:cNvGrpSpPr/>
          <p:nvPr/>
        </p:nvGrpSpPr>
        <p:grpSpPr>
          <a:xfrm>
            <a:off x="977760" y="5986440"/>
            <a:ext cx="507600" cy="543240"/>
            <a:chOff x="977760" y="5986440"/>
            <a:chExt cx="507600" cy="543240"/>
          </a:xfrm>
        </p:grpSpPr>
        <p:sp>
          <p:nvSpPr>
            <p:cNvPr id="367" name="Freeform 29"/>
            <p:cNvSpPr/>
            <p:nvPr/>
          </p:nvSpPr>
          <p:spPr>
            <a:xfrm>
              <a:off x="977760" y="59864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68" name="TextBox 30"/>
            <p:cNvSpPr/>
            <p:nvPr/>
          </p:nvSpPr>
          <p:spPr>
            <a:xfrm>
              <a:off x="1025280" y="60195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69" name="Group 31"/>
          <p:cNvGrpSpPr/>
          <p:nvPr/>
        </p:nvGrpSpPr>
        <p:grpSpPr>
          <a:xfrm>
            <a:off x="977760" y="7760880"/>
            <a:ext cx="507600" cy="543240"/>
            <a:chOff x="977760" y="7760880"/>
            <a:chExt cx="507600" cy="543240"/>
          </a:xfrm>
        </p:grpSpPr>
        <p:sp>
          <p:nvSpPr>
            <p:cNvPr id="370" name="Freeform 32"/>
            <p:cNvSpPr/>
            <p:nvPr/>
          </p:nvSpPr>
          <p:spPr>
            <a:xfrm>
              <a:off x="97776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71" name="TextBox 33"/>
            <p:cNvSpPr/>
            <p:nvPr/>
          </p:nvSpPr>
          <p:spPr>
            <a:xfrm>
              <a:off x="102528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372" name="Freeform 34"/>
          <p:cNvSpPr/>
          <p:nvPr/>
        </p:nvSpPr>
        <p:spPr>
          <a:xfrm>
            <a:off x="16313400" y="102888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6" name="TextBox 42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IMPLEMENTATION SCREENSHOTS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9" name="TextBox 37"/>
          <p:cNvSpPr/>
          <p:nvPr/>
        </p:nvSpPr>
        <p:spPr>
          <a:xfrm>
            <a:off x="4507200" y="7576200"/>
            <a:ext cx="14211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</a:rPr>
              <a:t>Login Page:</a:t>
            </a:r>
            <a:r>
              <a:rPr lang="en-US" sz="1800" b="0" strike="noStrike" spc="-1">
                <a:solidFill>
                  <a:schemeClr val="dk1"/>
                </a:solidFill>
                <a:latin typeface="Calibri" panose="020F0502020204030204"/>
              </a:rPr>
              <a:t> Displays the authentication form using JetBrains Mono typography and coordinate-labeled fields.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090" y="1614805"/>
            <a:ext cx="12412980" cy="5833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roup 7"/>
          <p:cNvGrpSpPr/>
          <p:nvPr/>
        </p:nvGrpSpPr>
        <p:grpSpPr>
          <a:xfrm>
            <a:off x="735480" y="6653880"/>
            <a:ext cx="991800" cy="991800"/>
            <a:chOff x="735480" y="6653880"/>
            <a:chExt cx="991800" cy="991800"/>
          </a:xfrm>
        </p:grpSpPr>
        <p:sp>
          <p:nvSpPr>
            <p:cNvPr id="381" name="Freeform 8"/>
            <p:cNvSpPr/>
            <p:nvPr/>
          </p:nvSpPr>
          <p:spPr>
            <a:xfrm>
              <a:off x="735480" y="665388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82" name="TextBox 9"/>
            <p:cNvSpPr/>
            <p:nvPr/>
          </p:nvSpPr>
          <p:spPr>
            <a:xfrm>
              <a:off x="828720" y="667728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400" b="1" strike="noStrike" spc="-1">
                  <a:solidFill>
                    <a:srgbClr val="002060"/>
                  </a:solidFill>
                  <a:latin typeface="Gotham"/>
                  <a:ea typeface="Gotham"/>
                </a:rPr>
                <a:t>8(B)</a:t>
              </a:r>
              <a:endParaRPr lang="en-US" sz="24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83" name="Group 10"/>
          <p:cNvGrpSpPr/>
          <p:nvPr/>
        </p:nvGrpSpPr>
        <p:grpSpPr>
          <a:xfrm>
            <a:off x="977760" y="3315600"/>
            <a:ext cx="507600" cy="543240"/>
            <a:chOff x="977760" y="3315600"/>
            <a:chExt cx="507600" cy="543240"/>
          </a:xfrm>
        </p:grpSpPr>
        <p:sp>
          <p:nvSpPr>
            <p:cNvPr id="384" name="Freeform 11"/>
            <p:cNvSpPr/>
            <p:nvPr/>
          </p:nvSpPr>
          <p:spPr>
            <a:xfrm>
              <a:off x="977760" y="33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85" name="TextBox 12"/>
            <p:cNvSpPr/>
            <p:nvPr/>
          </p:nvSpPr>
          <p:spPr>
            <a:xfrm>
              <a:off x="1025280" y="33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86" name="Group 13"/>
          <p:cNvGrpSpPr/>
          <p:nvPr/>
        </p:nvGrpSpPr>
        <p:grpSpPr>
          <a:xfrm>
            <a:off x="977760" y="1982520"/>
            <a:ext cx="507600" cy="543240"/>
            <a:chOff x="977760" y="1982520"/>
            <a:chExt cx="507600" cy="543240"/>
          </a:xfrm>
        </p:grpSpPr>
        <p:sp>
          <p:nvSpPr>
            <p:cNvPr id="387" name="Freeform 14"/>
            <p:cNvSpPr/>
            <p:nvPr/>
          </p:nvSpPr>
          <p:spPr>
            <a:xfrm>
              <a:off x="97776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88" name="TextBox 15"/>
            <p:cNvSpPr/>
            <p:nvPr/>
          </p:nvSpPr>
          <p:spPr>
            <a:xfrm>
              <a:off x="102528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89" name="Group 16"/>
          <p:cNvGrpSpPr/>
          <p:nvPr/>
        </p:nvGrpSpPr>
        <p:grpSpPr>
          <a:xfrm>
            <a:off x="977760" y="3983400"/>
            <a:ext cx="507600" cy="543240"/>
            <a:chOff x="977760" y="3983400"/>
            <a:chExt cx="507600" cy="543240"/>
          </a:xfrm>
        </p:grpSpPr>
        <p:sp>
          <p:nvSpPr>
            <p:cNvPr id="390" name="Freeform 17"/>
            <p:cNvSpPr/>
            <p:nvPr/>
          </p:nvSpPr>
          <p:spPr>
            <a:xfrm>
              <a:off x="977760" y="3983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91" name="TextBox 18"/>
            <p:cNvSpPr/>
            <p:nvPr/>
          </p:nvSpPr>
          <p:spPr>
            <a:xfrm>
              <a:off x="1025280" y="4016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92" name="Group 19"/>
          <p:cNvGrpSpPr/>
          <p:nvPr/>
        </p:nvGrpSpPr>
        <p:grpSpPr>
          <a:xfrm>
            <a:off x="977760" y="2648160"/>
            <a:ext cx="507600" cy="543240"/>
            <a:chOff x="977760" y="2648160"/>
            <a:chExt cx="507600" cy="543240"/>
          </a:xfrm>
        </p:grpSpPr>
        <p:sp>
          <p:nvSpPr>
            <p:cNvPr id="393" name="Freeform 20"/>
            <p:cNvSpPr/>
            <p:nvPr/>
          </p:nvSpPr>
          <p:spPr>
            <a:xfrm>
              <a:off x="97776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94" name="TextBox 21"/>
            <p:cNvSpPr/>
            <p:nvPr/>
          </p:nvSpPr>
          <p:spPr>
            <a:xfrm>
              <a:off x="102528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95" name="Group 22"/>
          <p:cNvGrpSpPr/>
          <p:nvPr/>
        </p:nvGrpSpPr>
        <p:grpSpPr>
          <a:xfrm>
            <a:off x="977760" y="5318640"/>
            <a:ext cx="507600" cy="543240"/>
            <a:chOff x="977760" y="5318640"/>
            <a:chExt cx="507600" cy="543240"/>
          </a:xfrm>
        </p:grpSpPr>
        <p:sp>
          <p:nvSpPr>
            <p:cNvPr id="396" name="Freeform 23"/>
            <p:cNvSpPr/>
            <p:nvPr/>
          </p:nvSpPr>
          <p:spPr>
            <a:xfrm>
              <a:off x="977760" y="5318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97" name="TextBox 24"/>
            <p:cNvSpPr/>
            <p:nvPr/>
          </p:nvSpPr>
          <p:spPr>
            <a:xfrm>
              <a:off x="1025280" y="5351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398" name="Group 25"/>
          <p:cNvGrpSpPr/>
          <p:nvPr/>
        </p:nvGrpSpPr>
        <p:grpSpPr>
          <a:xfrm>
            <a:off x="977760" y="4650840"/>
            <a:ext cx="507600" cy="543240"/>
            <a:chOff x="977760" y="4650840"/>
            <a:chExt cx="507600" cy="543240"/>
          </a:xfrm>
        </p:grpSpPr>
        <p:sp>
          <p:nvSpPr>
            <p:cNvPr id="399" name="Freeform 26"/>
            <p:cNvSpPr/>
            <p:nvPr/>
          </p:nvSpPr>
          <p:spPr>
            <a:xfrm>
              <a:off x="977760" y="4650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00" name="TextBox 27"/>
            <p:cNvSpPr/>
            <p:nvPr/>
          </p:nvSpPr>
          <p:spPr>
            <a:xfrm>
              <a:off x="1025280" y="4683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01" name="Group 28"/>
          <p:cNvGrpSpPr/>
          <p:nvPr/>
        </p:nvGrpSpPr>
        <p:grpSpPr>
          <a:xfrm>
            <a:off x="977760" y="5986440"/>
            <a:ext cx="507600" cy="543240"/>
            <a:chOff x="977760" y="5986440"/>
            <a:chExt cx="507600" cy="543240"/>
          </a:xfrm>
        </p:grpSpPr>
        <p:sp>
          <p:nvSpPr>
            <p:cNvPr id="402" name="Freeform 29"/>
            <p:cNvSpPr/>
            <p:nvPr/>
          </p:nvSpPr>
          <p:spPr>
            <a:xfrm>
              <a:off x="977760" y="59864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03" name="TextBox 30"/>
            <p:cNvSpPr/>
            <p:nvPr/>
          </p:nvSpPr>
          <p:spPr>
            <a:xfrm>
              <a:off x="1025280" y="60195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04" name="Group 31"/>
          <p:cNvGrpSpPr/>
          <p:nvPr/>
        </p:nvGrpSpPr>
        <p:grpSpPr>
          <a:xfrm>
            <a:off x="977760" y="7760880"/>
            <a:ext cx="507600" cy="543240"/>
            <a:chOff x="977760" y="7760880"/>
            <a:chExt cx="507600" cy="543240"/>
          </a:xfrm>
        </p:grpSpPr>
        <p:sp>
          <p:nvSpPr>
            <p:cNvPr id="405" name="Freeform 32"/>
            <p:cNvSpPr/>
            <p:nvPr/>
          </p:nvSpPr>
          <p:spPr>
            <a:xfrm>
              <a:off x="97776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06" name="TextBox 33"/>
            <p:cNvSpPr/>
            <p:nvPr/>
          </p:nvSpPr>
          <p:spPr>
            <a:xfrm>
              <a:off x="102528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407" name="Freeform 34"/>
          <p:cNvSpPr/>
          <p:nvPr/>
        </p:nvSpPr>
        <p:spPr>
          <a:xfrm>
            <a:off x="16313400" y="102888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1" name="TextBox 42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IMPLEMENTATION SCREENSHOTS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3" name="TextBox 4"/>
          <p:cNvSpPr/>
          <p:nvPr/>
        </p:nvSpPr>
        <p:spPr>
          <a:xfrm>
            <a:off x="4648320" y="7686360"/>
            <a:ext cx="14211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</a:rPr>
              <a:t>Student Dashboard:</a:t>
            </a:r>
            <a:r>
              <a:rPr lang="en-US" sz="1800" b="0" strike="noStrike" spc="-1">
                <a:solidFill>
                  <a:schemeClr val="dk1"/>
                </a:solidFill>
                <a:latin typeface="Calibri" panose="020F0502020204030204"/>
              </a:rPr>
              <a:t> Shows an analytics strip, resume upload zone, and filtered job history layout.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145" y="1327150"/>
            <a:ext cx="13518515" cy="6048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roup 7"/>
          <p:cNvGrpSpPr/>
          <p:nvPr/>
        </p:nvGrpSpPr>
        <p:grpSpPr>
          <a:xfrm>
            <a:off x="735480" y="6653880"/>
            <a:ext cx="991800" cy="991800"/>
            <a:chOff x="735480" y="6653880"/>
            <a:chExt cx="991800" cy="991800"/>
          </a:xfrm>
        </p:grpSpPr>
        <p:sp>
          <p:nvSpPr>
            <p:cNvPr id="415" name="Freeform 8"/>
            <p:cNvSpPr/>
            <p:nvPr/>
          </p:nvSpPr>
          <p:spPr>
            <a:xfrm>
              <a:off x="735480" y="665388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416" name="TextBox 9"/>
            <p:cNvSpPr/>
            <p:nvPr/>
          </p:nvSpPr>
          <p:spPr>
            <a:xfrm>
              <a:off x="828720" y="667728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400" b="1" strike="noStrike" spc="-1">
                  <a:solidFill>
                    <a:srgbClr val="002060"/>
                  </a:solidFill>
                  <a:latin typeface="Gotham"/>
                  <a:ea typeface="Gotham"/>
                </a:rPr>
                <a:t>8(C)</a:t>
              </a:r>
              <a:endParaRPr lang="en-US" sz="24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17" name="Group 10"/>
          <p:cNvGrpSpPr/>
          <p:nvPr/>
        </p:nvGrpSpPr>
        <p:grpSpPr>
          <a:xfrm>
            <a:off x="977760" y="3315600"/>
            <a:ext cx="507600" cy="543240"/>
            <a:chOff x="977760" y="3315600"/>
            <a:chExt cx="507600" cy="543240"/>
          </a:xfrm>
        </p:grpSpPr>
        <p:sp>
          <p:nvSpPr>
            <p:cNvPr id="418" name="Freeform 11"/>
            <p:cNvSpPr/>
            <p:nvPr/>
          </p:nvSpPr>
          <p:spPr>
            <a:xfrm>
              <a:off x="977760" y="33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19" name="TextBox 12"/>
            <p:cNvSpPr/>
            <p:nvPr/>
          </p:nvSpPr>
          <p:spPr>
            <a:xfrm>
              <a:off x="1025280" y="33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20" name="Group 13"/>
          <p:cNvGrpSpPr/>
          <p:nvPr/>
        </p:nvGrpSpPr>
        <p:grpSpPr>
          <a:xfrm>
            <a:off x="977760" y="1982520"/>
            <a:ext cx="507600" cy="543240"/>
            <a:chOff x="977760" y="1982520"/>
            <a:chExt cx="507600" cy="543240"/>
          </a:xfrm>
        </p:grpSpPr>
        <p:sp>
          <p:nvSpPr>
            <p:cNvPr id="421" name="Freeform 14"/>
            <p:cNvSpPr/>
            <p:nvPr/>
          </p:nvSpPr>
          <p:spPr>
            <a:xfrm>
              <a:off x="97776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22" name="TextBox 15"/>
            <p:cNvSpPr/>
            <p:nvPr/>
          </p:nvSpPr>
          <p:spPr>
            <a:xfrm>
              <a:off x="102528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23" name="Group 16"/>
          <p:cNvGrpSpPr/>
          <p:nvPr/>
        </p:nvGrpSpPr>
        <p:grpSpPr>
          <a:xfrm>
            <a:off x="977760" y="3983400"/>
            <a:ext cx="507600" cy="543240"/>
            <a:chOff x="977760" y="3983400"/>
            <a:chExt cx="507600" cy="543240"/>
          </a:xfrm>
        </p:grpSpPr>
        <p:sp>
          <p:nvSpPr>
            <p:cNvPr id="424" name="Freeform 17"/>
            <p:cNvSpPr/>
            <p:nvPr/>
          </p:nvSpPr>
          <p:spPr>
            <a:xfrm>
              <a:off x="977760" y="3983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25" name="TextBox 18"/>
            <p:cNvSpPr/>
            <p:nvPr/>
          </p:nvSpPr>
          <p:spPr>
            <a:xfrm>
              <a:off x="1025280" y="4016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26" name="Group 19"/>
          <p:cNvGrpSpPr/>
          <p:nvPr/>
        </p:nvGrpSpPr>
        <p:grpSpPr>
          <a:xfrm>
            <a:off x="977760" y="2648160"/>
            <a:ext cx="507600" cy="543240"/>
            <a:chOff x="977760" y="2648160"/>
            <a:chExt cx="507600" cy="543240"/>
          </a:xfrm>
        </p:grpSpPr>
        <p:sp>
          <p:nvSpPr>
            <p:cNvPr id="427" name="Freeform 20"/>
            <p:cNvSpPr/>
            <p:nvPr/>
          </p:nvSpPr>
          <p:spPr>
            <a:xfrm>
              <a:off x="97776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28" name="TextBox 21"/>
            <p:cNvSpPr/>
            <p:nvPr/>
          </p:nvSpPr>
          <p:spPr>
            <a:xfrm>
              <a:off x="102528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29" name="Group 22"/>
          <p:cNvGrpSpPr/>
          <p:nvPr/>
        </p:nvGrpSpPr>
        <p:grpSpPr>
          <a:xfrm>
            <a:off x="977760" y="5318640"/>
            <a:ext cx="507600" cy="543240"/>
            <a:chOff x="977760" y="5318640"/>
            <a:chExt cx="507600" cy="543240"/>
          </a:xfrm>
        </p:grpSpPr>
        <p:sp>
          <p:nvSpPr>
            <p:cNvPr id="430" name="Freeform 23"/>
            <p:cNvSpPr/>
            <p:nvPr/>
          </p:nvSpPr>
          <p:spPr>
            <a:xfrm>
              <a:off x="977760" y="5318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31" name="TextBox 24"/>
            <p:cNvSpPr/>
            <p:nvPr/>
          </p:nvSpPr>
          <p:spPr>
            <a:xfrm>
              <a:off x="1025280" y="5351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32" name="Group 25"/>
          <p:cNvGrpSpPr/>
          <p:nvPr/>
        </p:nvGrpSpPr>
        <p:grpSpPr>
          <a:xfrm>
            <a:off x="977760" y="4650840"/>
            <a:ext cx="507600" cy="543240"/>
            <a:chOff x="977760" y="4650840"/>
            <a:chExt cx="507600" cy="543240"/>
          </a:xfrm>
        </p:grpSpPr>
        <p:sp>
          <p:nvSpPr>
            <p:cNvPr id="433" name="Freeform 26"/>
            <p:cNvSpPr/>
            <p:nvPr/>
          </p:nvSpPr>
          <p:spPr>
            <a:xfrm>
              <a:off x="977760" y="4650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34" name="TextBox 27"/>
            <p:cNvSpPr/>
            <p:nvPr/>
          </p:nvSpPr>
          <p:spPr>
            <a:xfrm>
              <a:off x="1025280" y="4683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35" name="Group 28"/>
          <p:cNvGrpSpPr/>
          <p:nvPr/>
        </p:nvGrpSpPr>
        <p:grpSpPr>
          <a:xfrm>
            <a:off x="977760" y="5986440"/>
            <a:ext cx="507600" cy="543240"/>
            <a:chOff x="977760" y="5986440"/>
            <a:chExt cx="507600" cy="543240"/>
          </a:xfrm>
        </p:grpSpPr>
        <p:sp>
          <p:nvSpPr>
            <p:cNvPr id="436" name="Freeform 29"/>
            <p:cNvSpPr/>
            <p:nvPr/>
          </p:nvSpPr>
          <p:spPr>
            <a:xfrm>
              <a:off x="977760" y="59864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37" name="TextBox 30"/>
            <p:cNvSpPr/>
            <p:nvPr/>
          </p:nvSpPr>
          <p:spPr>
            <a:xfrm>
              <a:off x="1025280" y="60195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38" name="Group 31"/>
          <p:cNvGrpSpPr/>
          <p:nvPr/>
        </p:nvGrpSpPr>
        <p:grpSpPr>
          <a:xfrm>
            <a:off x="977760" y="7760880"/>
            <a:ext cx="507600" cy="543240"/>
            <a:chOff x="977760" y="7760880"/>
            <a:chExt cx="507600" cy="543240"/>
          </a:xfrm>
        </p:grpSpPr>
        <p:sp>
          <p:nvSpPr>
            <p:cNvPr id="439" name="Freeform 32"/>
            <p:cNvSpPr/>
            <p:nvPr/>
          </p:nvSpPr>
          <p:spPr>
            <a:xfrm>
              <a:off x="977760" y="7760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40" name="TextBox 33"/>
            <p:cNvSpPr/>
            <p:nvPr/>
          </p:nvSpPr>
          <p:spPr>
            <a:xfrm>
              <a:off x="1025280" y="7794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9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441" name="Freeform 34"/>
          <p:cNvSpPr/>
          <p:nvPr/>
        </p:nvSpPr>
        <p:spPr>
          <a:xfrm>
            <a:off x="16313400" y="102888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5" name="TextBox 42"/>
          <p:cNvSpPr/>
          <p:nvPr/>
        </p:nvSpPr>
        <p:spPr>
          <a:xfrm>
            <a:off x="152280" y="34308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IMPLEMENTATION SCREENSHOTS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7" name="TextBox 4"/>
          <p:cNvSpPr/>
          <p:nvPr/>
        </p:nvSpPr>
        <p:spPr>
          <a:xfrm>
            <a:off x="3474000" y="7824240"/>
            <a:ext cx="14211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</a:rPr>
              <a:t>Employer Dashboard:</a:t>
            </a:r>
            <a:r>
              <a:rPr lang="en-US" sz="1800" b="0" strike="noStrike" spc="-1">
                <a:solidFill>
                  <a:schemeClr val="dk1"/>
                </a:solidFill>
                <a:latin typeface="Calibri" panose="020F0502020204030204"/>
              </a:rPr>
              <a:t> Includes the job posting form and a management list with per-job analytics and edit/delete tools.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335" y="1398905"/>
            <a:ext cx="12839065" cy="5881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19400" y="7815423"/>
            <a:ext cx="13106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Page in the Job Portal Management System provides a centralized dashboard for managing users, job postings, applications, and overall platform activities.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535" y="1584325"/>
            <a:ext cx="13155930" cy="5821680"/>
          </a:xfrm>
          <a:prstGeom prst="rect">
            <a:avLst/>
          </a:prstGeom>
        </p:spPr>
      </p:pic>
      <p:sp>
        <p:nvSpPr>
          <p:cNvPr id="415" name="Freeform 8"/>
          <p:cNvSpPr/>
          <p:nvPr/>
        </p:nvSpPr>
        <p:spPr>
          <a:xfrm>
            <a:off x="735480" y="6653880"/>
            <a:ext cx="991800" cy="991800"/>
          </a:xfrm>
          <a:custGeom>
            <a:avLst/>
            <a:gdLst>
              <a:gd name="textAreaLeft" fmla="*/ 0 w 991800"/>
              <a:gd name="textAreaRight" fmla="*/ 992520 w 991800"/>
              <a:gd name="textAreaTop" fmla="*/ 0 h 991800"/>
              <a:gd name="textAreaBottom" fmla="*/ 992520 h 991800"/>
            </a:gdLst>
            <a:ahLst/>
            <a:cxn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D6220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ts val="3780"/>
              </a:lnSpc>
            </a:pPr>
            <a:r>
              <a:rPr lang="en-US" sz="2400" b="1" spc="-1">
                <a:solidFill>
                  <a:srgbClr val="002060"/>
                </a:solidFill>
                <a:latin typeface="Gotham"/>
                <a:ea typeface="Gotham"/>
                <a:sym typeface="+mn-ea"/>
              </a:rPr>
              <a:t>8(C)</a:t>
            </a:r>
            <a:endParaRPr lang="en-US" sz="2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33215" y="7646670"/>
            <a:ext cx="1089342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Application Page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employers or administrators to examine candidate details, cover letters, and application status in a structured format. It also provides options to add notes and update the applicant’s status such as Applied, Under Review, Rejected, or Hired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1461770"/>
            <a:ext cx="9682480" cy="60915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48" name="Group 5"/>
          <p:cNvGrpSpPr/>
          <p:nvPr/>
        </p:nvGrpSpPr>
        <p:grpSpPr>
          <a:xfrm>
            <a:off x="735480" y="7321680"/>
            <a:ext cx="991800" cy="991800"/>
            <a:chOff x="735480" y="7321680"/>
            <a:chExt cx="991800" cy="991800"/>
          </a:xfrm>
        </p:grpSpPr>
        <p:sp>
          <p:nvSpPr>
            <p:cNvPr id="449" name="Freeform 6"/>
            <p:cNvSpPr/>
            <p:nvPr/>
          </p:nvSpPr>
          <p:spPr>
            <a:xfrm>
              <a:off x="735480" y="7321680"/>
              <a:ext cx="991800" cy="991800"/>
            </a:xfrm>
            <a:custGeom>
              <a:avLst/>
              <a:gdLst>
                <a:gd name="textAreaLeft" fmla="*/ 0 w 991800"/>
                <a:gd name="textAreaRight" fmla="*/ 992520 w 991800"/>
                <a:gd name="textAreaTop" fmla="*/ 0 h 991800"/>
                <a:gd name="textAreaBottom" fmla="*/ 992520 h 99180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450" name="TextBox 7"/>
            <p:cNvSpPr/>
            <p:nvPr/>
          </p:nvSpPr>
          <p:spPr>
            <a:xfrm>
              <a:off x="828720" y="7344720"/>
              <a:ext cx="805680" cy="87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780"/>
                </a:lnSpc>
              </a:pPr>
              <a:r>
                <a:rPr lang="en-US" sz="2700" b="0" strike="noStrike" spc="-1">
                  <a:solidFill>
                    <a:srgbClr val="FFFEFE"/>
                  </a:solidFill>
                  <a:latin typeface="Gotham"/>
                  <a:ea typeface="Gotham"/>
                </a:rPr>
                <a:t>9</a:t>
              </a:r>
              <a:endParaRPr lang="en-US" sz="2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51" name="Group 8"/>
          <p:cNvGrpSpPr/>
          <p:nvPr/>
        </p:nvGrpSpPr>
        <p:grpSpPr>
          <a:xfrm>
            <a:off x="977760" y="3315600"/>
            <a:ext cx="507600" cy="543240"/>
            <a:chOff x="977760" y="3315600"/>
            <a:chExt cx="507600" cy="543240"/>
          </a:xfrm>
        </p:grpSpPr>
        <p:sp>
          <p:nvSpPr>
            <p:cNvPr id="452" name="Freeform 9"/>
            <p:cNvSpPr/>
            <p:nvPr/>
          </p:nvSpPr>
          <p:spPr>
            <a:xfrm>
              <a:off x="977760" y="33156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53" name="TextBox 10"/>
            <p:cNvSpPr/>
            <p:nvPr/>
          </p:nvSpPr>
          <p:spPr>
            <a:xfrm>
              <a:off x="1025280" y="33487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3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54" name="Group 11"/>
          <p:cNvGrpSpPr/>
          <p:nvPr/>
        </p:nvGrpSpPr>
        <p:grpSpPr>
          <a:xfrm>
            <a:off x="977760" y="1982520"/>
            <a:ext cx="507600" cy="543240"/>
            <a:chOff x="977760" y="1982520"/>
            <a:chExt cx="507600" cy="543240"/>
          </a:xfrm>
        </p:grpSpPr>
        <p:sp>
          <p:nvSpPr>
            <p:cNvPr id="455" name="Freeform 12"/>
            <p:cNvSpPr/>
            <p:nvPr/>
          </p:nvSpPr>
          <p:spPr>
            <a:xfrm>
              <a:off x="977760" y="198252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56" name="TextBox 13"/>
            <p:cNvSpPr/>
            <p:nvPr/>
          </p:nvSpPr>
          <p:spPr>
            <a:xfrm>
              <a:off x="1025280" y="201564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1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57" name="Group 14"/>
          <p:cNvGrpSpPr/>
          <p:nvPr/>
        </p:nvGrpSpPr>
        <p:grpSpPr>
          <a:xfrm>
            <a:off x="977760" y="3983400"/>
            <a:ext cx="507600" cy="543240"/>
            <a:chOff x="977760" y="3983400"/>
            <a:chExt cx="507600" cy="543240"/>
          </a:xfrm>
        </p:grpSpPr>
        <p:sp>
          <p:nvSpPr>
            <p:cNvPr id="458" name="Freeform 15"/>
            <p:cNvSpPr/>
            <p:nvPr/>
          </p:nvSpPr>
          <p:spPr>
            <a:xfrm>
              <a:off x="977760" y="398340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59" name="TextBox 16"/>
            <p:cNvSpPr/>
            <p:nvPr/>
          </p:nvSpPr>
          <p:spPr>
            <a:xfrm>
              <a:off x="1025280" y="401652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4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60" name="Group 17"/>
          <p:cNvGrpSpPr/>
          <p:nvPr/>
        </p:nvGrpSpPr>
        <p:grpSpPr>
          <a:xfrm>
            <a:off x="977760" y="2648160"/>
            <a:ext cx="507600" cy="543240"/>
            <a:chOff x="977760" y="2648160"/>
            <a:chExt cx="507600" cy="543240"/>
          </a:xfrm>
        </p:grpSpPr>
        <p:sp>
          <p:nvSpPr>
            <p:cNvPr id="461" name="Freeform 18"/>
            <p:cNvSpPr/>
            <p:nvPr/>
          </p:nvSpPr>
          <p:spPr>
            <a:xfrm>
              <a:off x="977760" y="264816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62" name="TextBox 19"/>
            <p:cNvSpPr/>
            <p:nvPr/>
          </p:nvSpPr>
          <p:spPr>
            <a:xfrm>
              <a:off x="1025280" y="268128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2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63" name="Group 20"/>
          <p:cNvGrpSpPr/>
          <p:nvPr/>
        </p:nvGrpSpPr>
        <p:grpSpPr>
          <a:xfrm>
            <a:off x="977760" y="5318640"/>
            <a:ext cx="507600" cy="543240"/>
            <a:chOff x="977760" y="5318640"/>
            <a:chExt cx="507600" cy="543240"/>
          </a:xfrm>
        </p:grpSpPr>
        <p:sp>
          <p:nvSpPr>
            <p:cNvPr id="464" name="Freeform 21"/>
            <p:cNvSpPr/>
            <p:nvPr/>
          </p:nvSpPr>
          <p:spPr>
            <a:xfrm>
              <a:off x="977760" y="53186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65" name="TextBox 22"/>
            <p:cNvSpPr/>
            <p:nvPr/>
          </p:nvSpPr>
          <p:spPr>
            <a:xfrm>
              <a:off x="1025280" y="53517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6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66" name="Group 23"/>
          <p:cNvGrpSpPr/>
          <p:nvPr/>
        </p:nvGrpSpPr>
        <p:grpSpPr>
          <a:xfrm>
            <a:off x="977760" y="4650840"/>
            <a:ext cx="507600" cy="543240"/>
            <a:chOff x="977760" y="4650840"/>
            <a:chExt cx="507600" cy="543240"/>
          </a:xfrm>
        </p:grpSpPr>
        <p:sp>
          <p:nvSpPr>
            <p:cNvPr id="467" name="Freeform 24"/>
            <p:cNvSpPr/>
            <p:nvPr/>
          </p:nvSpPr>
          <p:spPr>
            <a:xfrm>
              <a:off x="977760" y="46508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68" name="TextBox 25"/>
            <p:cNvSpPr/>
            <p:nvPr/>
          </p:nvSpPr>
          <p:spPr>
            <a:xfrm>
              <a:off x="1025280" y="46839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5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69" name="Group 26"/>
          <p:cNvGrpSpPr/>
          <p:nvPr/>
        </p:nvGrpSpPr>
        <p:grpSpPr>
          <a:xfrm>
            <a:off x="977760" y="5986440"/>
            <a:ext cx="507600" cy="543240"/>
            <a:chOff x="977760" y="5986440"/>
            <a:chExt cx="507600" cy="543240"/>
          </a:xfrm>
        </p:grpSpPr>
        <p:sp>
          <p:nvSpPr>
            <p:cNvPr id="470" name="Freeform 27"/>
            <p:cNvSpPr/>
            <p:nvPr/>
          </p:nvSpPr>
          <p:spPr>
            <a:xfrm>
              <a:off x="977760" y="598644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71" name="TextBox 28"/>
            <p:cNvSpPr/>
            <p:nvPr/>
          </p:nvSpPr>
          <p:spPr>
            <a:xfrm>
              <a:off x="1025280" y="601956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7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472" name="Group 29"/>
          <p:cNvGrpSpPr/>
          <p:nvPr/>
        </p:nvGrpSpPr>
        <p:grpSpPr>
          <a:xfrm>
            <a:off x="977760" y="6653880"/>
            <a:ext cx="507600" cy="543240"/>
            <a:chOff x="977760" y="6653880"/>
            <a:chExt cx="507600" cy="543240"/>
          </a:xfrm>
        </p:grpSpPr>
        <p:sp>
          <p:nvSpPr>
            <p:cNvPr id="473" name="Freeform 30"/>
            <p:cNvSpPr/>
            <p:nvPr/>
          </p:nvSpPr>
          <p:spPr>
            <a:xfrm>
              <a:off x="977760" y="6653880"/>
              <a:ext cx="507600" cy="543240"/>
            </a:xfrm>
            <a:custGeom>
              <a:avLst/>
              <a:gdLst>
                <a:gd name="textAreaLeft" fmla="*/ 0 w 507600"/>
                <a:gd name="textAreaRight" fmla="*/ 508320 w 507600"/>
                <a:gd name="textAreaTop" fmla="*/ 0 h 543240"/>
                <a:gd name="textAreaBottom" fmla="*/ 543960 h 543240"/>
              </a:gdLst>
              <a:ahLst/>
              <a:cxn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474" name="TextBox 31"/>
            <p:cNvSpPr/>
            <p:nvPr/>
          </p:nvSpPr>
          <p:spPr>
            <a:xfrm>
              <a:off x="1025280" y="6687000"/>
              <a:ext cx="412200" cy="45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2380"/>
                </a:lnSpc>
              </a:pPr>
              <a:r>
                <a:rPr lang="en-US" sz="1700" b="0" strike="noStrike" spc="-1">
                  <a:solidFill>
                    <a:srgbClr val="191919"/>
                  </a:solidFill>
                  <a:latin typeface="Gotham"/>
                  <a:ea typeface="Gotham"/>
                </a:rPr>
                <a:t>8</a:t>
              </a:r>
              <a:endParaRPr lang="en-US" sz="17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475" name="Freeform 32"/>
          <p:cNvSpPr/>
          <p:nvPr/>
        </p:nvSpPr>
        <p:spPr>
          <a:xfrm>
            <a:off x="16313400" y="102888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9" name="TextBox 1"/>
          <p:cNvSpPr/>
          <p:nvPr/>
        </p:nvSpPr>
        <p:spPr>
          <a:xfrm>
            <a:off x="190440" y="290520"/>
            <a:ext cx="179064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033CC"/>
                </a:solidFill>
                <a:latin typeface="Times New Roman" panose="02020603050405020304"/>
              </a:rPr>
              <a:t>ADVANTAGES &amp; LIMITATIONS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0" name="TextBox 3"/>
          <p:cNvSpPr/>
          <p:nvPr/>
        </p:nvSpPr>
        <p:spPr>
          <a:xfrm>
            <a:off x="2489760" y="1812960"/>
            <a:ext cx="14044680" cy="777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2800" b="1" strike="noStrike" spc="-1">
                <a:solidFill>
                  <a:schemeClr val="dk1"/>
                </a:solidFill>
                <a:latin typeface="Calibri" panose="020F0502020204030204"/>
              </a:rPr>
              <a:t>Advantages: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800" b="0" strike="noStrike" spc="-1">
                <a:solidFill>
                  <a:schemeClr val="dk1"/>
                </a:solidFill>
                <a:latin typeface="Calibri" panose="020F0502020204030204"/>
              </a:rPr>
              <a:t>Role-based access control ensures data isolation between students and employers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800" b="0" strike="noStrike" spc="-1">
                <a:solidFill>
                  <a:schemeClr val="dk1"/>
                </a:solidFill>
                <a:latin typeface="Calibri" panose="020F0502020204030204"/>
              </a:rPr>
              <a:t>Automated application tracking eliminates manual status updates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800" b="0" strike="noStrike" spc="-1">
                <a:solidFill>
                  <a:schemeClr val="dk1"/>
                </a:solidFill>
                <a:latin typeface="Calibri" panose="020F0502020204030204"/>
              </a:rPr>
              <a:t>Resume upload/download functionality streamlines the hiring process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800" b="0" strike="noStrike" spc="-1">
                <a:solidFill>
                  <a:schemeClr val="dk1"/>
                </a:solidFill>
                <a:latin typeface="Calibri" panose="020F0502020204030204"/>
              </a:rPr>
              <a:t>Real-time analytics provide hiring pipeline visibility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800" b="0" strike="noStrike" spc="-1">
                <a:solidFill>
                  <a:schemeClr val="dk1"/>
                </a:solidFill>
                <a:latin typeface="Calibri" panose="020F0502020204030204"/>
              </a:rPr>
              <a:t>Clean "Architectural Engine" design system enhances usability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r>
              <a:rPr lang="en-IN" sz="2800" b="1" strike="noStrike" spc="-1">
                <a:solidFill>
                  <a:schemeClr val="dk1"/>
                </a:solidFill>
                <a:latin typeface="Calibri" panose="020F0502020204030204"/>
              </a:rPr>
              <a:t>Limitations</a:t>
            </a:r>
            <a:r>
              <a:rPr lang="en-IN" sz="2800" b="0" strike="noStrike" spc="-1">
                <a:solidFill>
                  <a:schemeClr val="dk1"/>
                </a:solidFill>
                <a:latin typeface="Calibri" panose="020F0502020204030204"/>
              </a:rPr>
              <a:t>: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800" b="0" strike="noStrike" spc="-1">
                <a:solidFill>
                  <a:schemeClr val="dk1"/>
                </a:solidFill>
                <a:latin typeface="Calibri" panose="020F0502020204030204"/>
              </a:rPr>
              <a:t>File uploads are stored locally rather than in a cloud storage service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800" b="0" strike="noStrike" spc="-1">
                <a:solidFill>
                  <a:schemeClr val="dk1"/>
                </a:solidFill>
                <a:latin typeface="Calibri" panose="020F0502020204030204"/>
              </a:rPr>
              <a:t>No email notifications for shortlisted candidates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Freeform 32"/>
          <p:cNvSpPr/>
          <p:nvPr/>
        </p:nvSpPr>
        <p:spPr>
          <a:xfrm>
            <a:off x="16313400" y="1028880"/>
            <a:ext cx="945000" cy="235800"/>
          </a:xfrm>
          <a:custGeom>
            <a:avLst/>
            <a:gdLst>
              <a:gd name="textAreaLeft" fmla="*/ 0 w 945000"/>
              <a:gd name="textAreaRight" fmla="*/ 945720 w 945000"/>
              <a:gd name="textAreaTop" fmla="*/ 0 h 235800"/>
              <a:gd name="textAreaBottom" fmla="*/ 236520 h 235800"/>
            </a:gdLst>
            <a:ahLst/>
            <a:cxnLst/>
            <a:rect l="textAreaLeft" t="textAreaTop" r="textAreaRight" b="textAreaBottom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2" name="TextBox 43"/>
          <p:cNvSpPr/>
          <p:nvPr/>
        </p:nvSpPr>
        <p:spPr>
          <a:xfrm>
            <a:off x="3200400" y="4486320"/>
            <a:ext cx="11158920" cy="1288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0150"/>
              </a:lnSpc>
            </a:pPr>
            <a:r>
              <a:rPr lang="en-US" sz="11150" b="1" i="1" strike="noStrike" spc="-1">
                <a:solidFill>
                  <a:srgbClr val="191919"/>
                </a:solidFill>
                <a:latin typeface="Gotham Bold Italics"/>
                <a:ea typeface="Gotham Bold Italics"/>
              </a:rPr>
              <a:t>Thank you</a:t>
            </a:r>
            <a:endParaRPr lang="en-US" sz="1115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5" name="TextBox 46"/>
          <p:cNvSpPr/>
          <p:nvPr/>
        </p:nvSpPr>
        <p:spPr>
          <a:xfrm>
            <a:off x="17816830" y="290830"/>
            <a:ext cx="8932545" cy="93186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ts val="2660"/>
              </a:lnSpc>
            </a:pPr>
            <a:endParaRPr lang="en-US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4863</Words>
  <Application>WPS Presentation</Application>
  <PresentationFormat/>
  <Paragraphs>464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17</vt:i4>
      </vt:variant>
    </vt:vector>
  </HeadingPairs>
  <TitlesOfParts>
    <vt:vector size="44" baseType="lpstr">
      <vt:lpstr>Arial</vt:lpstr>
      <vt:lpstr>SimSun</vt:lpstr>
      <vt:lpstr>Wingdings</vt:lpstr>
      <vt:lpstr>Arial</vt:lpstr>
      <vt:lpstr>Times New Roman</vt:lpstr>
      <vt:lpstr>Calibri</vt:lpstr>
      <vt:lpstr>Symbol</vt:lpstr>
      <vt:lpstr>Cambria</vt:lpstr>
      <vt:lpstr>Bookman Old Style</vt:lpstr>
      <vt:lpstr>Cambria</vt:lpstr>
      <vt:lpstr>Gotham</vt:lpstr>
      <vt:lpstr>Segoe Print</vt:lpstr>
      <vt:lpstr>Times New Roman</vt:lpstr>
      <vt:lpstr>Gotham Bold Italics</vt:lpstr>
      <vt:lpstr>Microsoft YaHei</vt:lpstr>
      <vt:lpstr>Arial Unicode MS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Madhan Kumar S</dc:creator>
  <cp:lastModifiedBy>Admin</cp:lastModifiedBy>
  <cp:revision>17</cp:revision>
  <dcterms:created xsi:type="dcterms:W3CDTF">2006-08-16T00:00:00Z</dcterms:created>
  <dcterms:modified xsi:type="dcterms:W3CDTF">2026-05-06T06:20:40Z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15</vt:i4>
  </property>
  <property fmtid="{D5CDD505-2E9C-101B-9397-08002B2CF9AE}" pid="4" name="KSOProductBuildVer">
    <vt:lpwstr>1033-12.1.0.25862</vt:lpwstr>
  </property>
  <property fmtid="{D5CDD505-2E9C-101B-9397-08002B2CF9AE}" pid="5" name="ICV">
    <vt:lpwstr>41351FB76CBB4CD99CCD2797A8DFF195_13</vt:lpwstr>
  </property>
</Properties>
</file>